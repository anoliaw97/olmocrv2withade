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471" r:id="rId3"/>
    <p:sldId id="478" r:id="rId4"/>
    <p:sldId id="452" r:id="rId5"/>
    <p:sldId id="447" r:id="rId6"/>
    <p:sldId id="453" r:id="rId7"/>
    <p:sldId id="454" r:id="rId8"/>
    <p:sldId id="472" r:id="rId9"/>
    <p:sldId id="473" r:id="rId10"/>
    <p:sldId id="474" r:id="rId11"/>
    <p:sldId id="475" r:id="rId12"/>
    <p:sldId id="476" r:id="rId13"/>
    <p:sldId id="477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91" r:id="rId23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65" autoAdjust="0"/>
  </p:normalViewPr>
  <p:slideViewPr>
    <p:cSldViewPr>
      <p:cViewPr varScale="1">
        <p:scale>
          <a:sx n="95" d="100"/>
          <a:sy n="95" d="100"/>
        </p:scale>
        <p:origin x="160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49CAF-BF1C-4E7A-BFCE-ACFF36EEA8DB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7CCD0-ABD6-41FF-B324-73CA0E8FD2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455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2089" y="471932"/>
            <a:ext cx="7229221" cy="3765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099" y="1216152"/>
            <a:ext cx="9851390" cy="327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90300" y="7208630"/>
            <a:ext cx="221615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3871" y="2482850"/>
            <a:ext cx="8422005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0" marR="5080" indent="-768985">
              <a:lnSpc>
                <a:spcPct val="112000"/>
              </a:lnSpc>
              <a:spcBef>
                <a:spcPts val="95"/>
              </a:spcBef>
            </a:pPr>
            <a:r>
              <a:rPr sz="3000" dirty="0"/>
              <a:t>PETRONAS</a:t>
            </a:r>
            <a:r>
              <a:rPr sz="3000" spc="-15" dirty="0"/>
              <a:t> </a:t>
            </a:r>
            <a:r>
              <a:rPr sz="3000" dirty="0"/>
              <a:t>Advanced</a:t>
            </a:r>
            <a:r>
              <a:rPr sz="3000" spc="-10" dirty="0"/>
              <a:t> </a:t>
            </a:r>
            <a:r>
              <a:rPr sz="3000" dirty="0"/>
              <a:t>Analytics</a:t>
            </a:r>
            <a:r>
              <a:rPr sz="3000" spc="-10" dirty="0"/>
              <a:t> </a:t>
            </a:r>
            <a:r>
              <a:rPr sz="3000" dirty="0"/>
              <a:t>Framework</a:t>
            </a:r>
            <a:r>
              <a:rPr sz="3000" spc="-10" dirty="0"/>
              <a:t> </a:t>
            </a:r>
            <a:r>
              <a:rPr sz="3000" spc="-25" dirty="0"/>
              <a:t>for </a:t>
            </a:r>
            <a:r>
              <a:rPr sz="3000" dirty="0"/>
              <a:t>Resource</a:t>
            </a:r>
            <a:r>
              <a:rPr sz="3000" spc="-10" dirty="0"/>
              <a:t> </a:t>
            </a:r>
            <a:r>
              <a:rPr sz="3000" dirty="0"/>
              <a:t>Optimization</a:t>
            </a:r>
            <a:r>
              <a:rPr sz="3000" spc="-10" dirty="0"/>
              <a:t> (PETRO-AFRO)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27100" y="3960520"/>
            <a:ext cx="868680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2000" b="1" dirty="0">
                <a:solidFill>
                  <a:srgbClr val="1A1A1A"/>
                </a:solidFill>
                <a:latin typeface="Segoe UI Light"/>
                <a:cs typeface="Segoe UI Light"/>
              </a:rPr>
              <a:t>AI-Assisted Relative Permeability Composer – Data Extraction &amp; Data Preparation</a:t>
            </a:r>
            <a:endParaRPr sz="2000" b="1" dirty="0">
              <a:latin typeface="Segoe UI Light"/>
              <a:cs typeface="Segoe UI Light"/>
            </a:endParaRPr>
          </a:p>
        </p:txBody>
      </p:sp>
      <p:pic>
        <p:nvPicPr>
          <p:cNvPr id="5" name="Google Shape;791;p1">
            <a:extLst>
              <a:ext uri="{FF2B5EF4-FFF2-40B4-BE49-F238E27FC236}">
                <a16:creationId xmlns:a16="http://schemas.microsoft.com/office/drawing/2014/main" id="{365A3EC8-3A86-1340-7D57-3B98E46481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51500" y="448866"/>
            <a:ext cx="2171700" cy="74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2;p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D73C1E3-1119-F9B9-0B98-B1338C2A64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6479" y="138712"/>
            <a:ext cx="1368423" cy="13684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A663D4-8434-71B1-EBF4-21EC456F2546}"/>
              </a:ext>
            </a:extLst>
          </p:cNvPr>
          <p:cNvSpPr txBox="1"/>
          <p:nvPr/>
        </p:nvSpPr>
        <p:spPr>
          <a:xfrm>
            <a:off x="2908300" y="4508220"/>
            <a:ext cx="5347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Project Leader: Dr. Ervin Gubin </a:t>
            </a:r>
            <a:r>
              <a:rPr lang="en-MY" dirty="0" err="1"/>
              <a:t>Moung</a:t>
            </a:r>
            <a:endParaRPr lang="en-MY" dirty="0"/>
          </a:p>
          <a:p>
            <a:pPr algn="ctr"/>
            <a:endParaRPr lang="en-MY" dirty="0"/>
          </a:p>
          <a:p>
            <a:pPr algn="ctr"/>
            <a:r>
              <a:rPr lang="en-MY" dirty="0"/>
              <a:t>Institution: Faculty of Computing and Informatics, </a:t>
            </a:r>
            <a:r>
              <a:rPr lang="en-MY" dirty="0" err="1"/>
              <a:t>Universiti</a:t>
            </a:r>
            <a:r>
              <a:rPr lang="en-MY" dirty="0"/>
              <a:t> Malaysia Sabah</a:t>
            </a:r>
          </a:p>
          <a:p>
            <a:pPr algn="ctr"/>
            <a:endParaRPr lang="en-MY" dirty="0"/>
          </a:p>
          <a:p>
            <a:pPr algn="ctr"/>
            <a:r>
              <a:rPr lang="en-MY" dirty="0"/>
              <a:t>26 February 2026</a:t>
            </a:r>
            <a:br>
              <a:rPr lang="en-MY" dirty="0"/>
            </a:br>
            <a:br>
              <a:rPr lang="en-MY" dirty="0"/>
            </a:br>
            <a:r>
              <a:rPr lang="en-MY" dirty="0"/>
              <a:t>Research Assistants: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MY" dirty="0"/>
              <a:t>Afif </a:t>
            </a:r>
            <a:r>
              <a:rPr lang="en-MY" dirty="0" err="1"/>
              <a:t>Muizzuddin</a:t>
            </a:r>
            <a:endParaRPr lang="en-MY" dirty="0"/>
          </a:p>
          <a:p>
            <a:pPr marL="342900" indent="-342900" algn="l">
              <a:buFont typeface="+mj-lt"/>
              <a:buAutoNum type="arabicPeriod"/>
            </a:pPr>
            <a:r>
              <a:rPr lang="en-MY" dirty="0"/>
              <a:t>Valentino Liaw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100" y="44450"/>
            <a:ext cx="6662611" cy="3765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74165" algn="ctr">
              <a:lnSpc>
                <a:spcPct val="100000"/>
              </a:lnSpc>
              <a:spcBef>
                <a:spcPts val="95"/>
              </a:spcBef>
            </a:pPr>
            <a:r>
              <a:rPr lang="en-MY" dirty="0"/>
              <a:t>Last </a:t>
            </a:r>
            <a:r>
              <a:rPr dirty="0"/>
              <a:t>Meeting</a:t>
            </a:r>
            <a:r>
              <a:rPr spc="-65" dirty="0"/>
              <a:t> </a:t>
            </a:r>
            <a:r>
              <a:rPr spc="-10" dirty="0"/>
              <a:t>Recap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715C295-FB6E-3365-0A41-AF3DA38E9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54" y="292000"/>
            <a:ext cx="98066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en-US" sz="1600" b="1">
                <a:solidFill>
                  <a:schemeClr val="tx1"/>
                </a:solidFill>
                <a:latin typeface="Arial" panose="020B0604020202020204" pitchFamily="34" charset="0"/>
              </a:rPr>
              <a:t> 5 February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2026):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7C23B0-A166-AB7C-A9A5-DFF40C408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18" y="675434"/>
            <a:ext cx="78486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Baseline extraction benchmark established: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Full-document extraction (17 pages) using default prompt → ~40 minutes runtime; confirmed JSON output consistency but incomplete table capture on complex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Targeted page selection validated: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Extracting only relevant pages (6–8) reduced runtime (~30 minutes total) while maintaining similar extraction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3.Task-specific prompts showed mixed performance: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Capillary-pressure/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-perm prompts improved extraction on relevant pages but failed when keywords were absent or table structure differed.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Prompt length significantly impacts accuracy: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Longer, rule-based general prompts improved extraction completeness (especially on low-quality scans), but increased runtime (≈2× longer).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Strict context-driven prompts improved structure but risked over-filtering: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normalization and column enforcement improved row completeness but sometimes excluded valid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Table structure strongly affects model behavior: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tabular layouts performed well; blurred scans, handwriting, and irregular formatting reduced extraction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Runtime remains a critical bottleneck: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3-page runs ≈20 minutes on local GPU; performance likely constrained by image reasoning load — HPC testing required.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Model reasoning remains opaque (“black box” effect):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chain-of-thought visibility; difficult to diagnose why certain prompts succeed or fail.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Strategic direction refined: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from generic “extract-all tables” to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specific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-use-case-driven extraction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all porosity values per core sample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capillary pressure curves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Digitize graph data points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 specific SCAL parameters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Future exploration planned: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Targeted prompt refinement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Accuracy vs runtime benchmarking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Graph digitization experiments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Agentic Document Extraction (ADE) workflows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HPC deployment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845-A8B5-3F60-8647-F8F4869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DD7A62F-03C7-5AA7-BB67-544E9D2FB48F}"/>
              </a:ext>
            </a:extLst>
          </p:cNvPr>
          <p:cNvSpPr txBox="1"/>
          <p:nvPr/>
        </p:nvSpPr>
        <p:spPr>
          <a:xfrm>
            <a:off x="660400" y="2025650"/>
            <a:ext cx="9372600" cy="502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defPPr>
              <a:defRPr kern="0"/>
            </a:defPPr>
          </a:lstStyle>
          <a:p>
            <a:pPr algn="ctr"/>
            <a:r>
              <a:rPr lang="en-US" sz="9600" b="1" u="sng" dirty="0"/>
              <a:t>Work Direction Based on Last Meeting</a:t>
            </a:r>
          </a:p>
          <a:p>
            <a:pPr algn="ctr"/>
            <a:endParaRPr lang="en-US" sz="9600" b="1" u="sng" dirty="0"/>
          </a:p>
          <a:p>
            <a:pPr algn="ctr"/>
            <a:r>
              <a:rPr lang="en-US" sz="5400" dirty="0"/>
              <a:t>Following the direction from the last two weeks of meetings, the current work is structured into three steps:</a:t>
            </a:r>
          </a:p>
          <a:p>
            <a:endParaRPr lang="en-US" sz="5400" dirty="0"/>
          </a:p>
          <a:p>
            <a:endParaRPr lang="en-US" sz="5400" dirty="0"/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Prompt Refinement</a:t>
            </a:r>
            <a:br>
              <a:rPr lang="en-US" sz="7200" u="sng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Using a stable default prompt that is performance efficient in terms of processing speed vs accuracy.</a:t>
            </a:r>
          </a:p>
          <a:p>
            <a:pPr marL="914400" indent="-914400">
              <a:buFont typeface="+mj-lt"/>
              <a:buAutoNum type="arabicPeriod"/>
            </a:pPr>
            <a:endParaRPr lang="en-US" sz="7200" u="sng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Extracting pages with Graphs</a:t>
            </a:r>
            <a:br>
              <a:rPr lang="en-US" sz="7200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Exploring techniques or prompts to extract information from complex graphical figures.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Developing working Agentic Document Extraction (ADE) workflows</a:t>
            </a:r>
          </a:p>
          <a:p>
            <a:pPr lvl="2"/>
            <a:r>
              <a:rPr lang="en-US" sz="7200" dirty="0">
                <a:solidFill>
                  <a:srgbClr val="002060"/>
                </a:solidFill>
              </a:rPr>
              <a:t>	Integrating various tech stacks that works as agents to improve and refine the 	extraction of data from documents. From classifying pages, prompt optimizations, 	anchor prompt builder, OCR+VLM, LLM-Post Processing etc. 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Specific Use-Case Promptings</a:t>
            </a:r>
            <a:br>
              <a:rPr lang="en-US" sz="7200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-Use insights from general extraction to design focused, use-case-specific extraction workflows that are more accurate, faster, and easier to validate.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r>
              <a:rPr lang="en-US" sz="7200" dirty="0">
                <a:solidFill>
                  <a:srgbClr val="002060"/>
                </a:solidFill>
              </a:rPr>
              <a:t>	-Conduct multiple finetuning process to identify the proper prompts for specific 	use cases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54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845-A8B5-3F60-8647-F8F4869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DD7A62F-03C7-5AA7-BB67-544E9D2FB48F}"/>
              </a:ext>
            </a:extLst>
          </p:cNvPr>
          <p:cNvSpPr txBox="1"/>
          <p:nvPr/>
        </p:nvSpPr>
        <p:spPr>
          <a:xfrm>
            <a:off x="660400" y="1568450"/>
            <a:ext cx="9372600" cy="464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defPPr>
              <a:defRPr kern="0"/>
            </a:defPPr>
          </a:lstStyle>
          <a:p>
            <a:endParaRPr lang="en-US" sz="5400" dirty="0"/>
          </a:p>
          <a:p>
            <a:endParaRPr lang="en-US" sz="5400" dirty="0"/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Specific Use-Case Prompting</a:t>
            </a:r>
            <a:br>
              <a:rPr lang="en-US" sz="7200" u="sng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Conduct multiple finetuning process to identify the proper prompts for specific use cases.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Target Specific SCAL Parameters</a:t>
            </a: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Graph Digitization</a:t>
            </a: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Extract Specific column only</a:t>
            </a:r>
          </a:p>
          <a:p>
            <a:pPr marL="914400" lvl="6" indent="-914400">
              <a:buFont typeface="Arial" panose="020B0604020202020204" pitchFamily="34" charset="0"/>
              <a:buChar char="•"/>
            </a:pPr>
            <a:endParaRPr lang="en-US" sz="7200" dirty="0"/>
          </a:p>
          <a:p>
            <a:pPr marL="914400" indent="-914400">
              <a:buFont typeface="+mj-lt"/>
              <a:buAutoNum type="arabicPeriod"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1898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A513-BF18-AB81-536D-048647D6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5CE6887-D323-F151-6999-2770CF7C5B4B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1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(Target Specific SCAL Parameters)</a:t>
            </a:r>
          </a:p>
        </p:txBody>
      </p:sp>
    </p:spTree>
    <p:extLst>
      <p:ext uri="{BB962C8B-B14F-4D97-AF65-F5344CB8AC3E}">
        <p14:creationId xmlns:p14="http://schemas.microsoft.com/office/powerpoint/2010/main" val="71237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409F-A358-361C-FFCC-EED740EE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09AD6-BE50-5736-5400-F840C7B31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36441"/>
              </p:ext>
            </p:extLst>
          </p:nvPr>
        </p:nvGraphicFramePr>
        <p:xfrm>
          <a:off x="584200" y="413134"/>
          <a:ext cx="9525000" cy="674259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47059">
                  <a:extLst>
                    <a:ext uri="{9D8B030D-6E8A-4147-A177-3AD203B41FA5}">
                      <a16:colId xmlns:a16="http://schemas.microsoft.com/office/drawing/2014/main" val="2984998665"/>
                    </a:ext>
                  </a:extLst>
                </a:gridCol>
                <a:gridCol w="2147795">
                  <a:extLst>
                    <a:ext uri="{9D8B030D-6E8A-4147-A177-3AD203B41FA5}">
                      <a16:colId xmlns:a16="http://schemas.microsoft.com/office/drawing/2014/main" val="2140819980"/>
                    </a:ext>
                  </a:extLst>
                </a:gridCol>
                <a:gridCol w="1067431">
                  <a:extLst>
                    <a:ext uri="{9D8B030D-6E8A-4147-A177-3AD203B41FA5}">
                      <a16:colId xmlns:a16="http://schemas.microsoft.com/office/drawing/2014/main" val="2714219668"/>
                    </a:ext>
                  </a:extLst>
                </a:gridCol>
                <a:gridCol w="956091">
                  <a:extLst>
                    <a:ext uri="{9D8B030D-6E8A-4147-A177-3AD203B41FA5}">
                      <a16:colId xmlns:a16="http://schemas.microsoft.com/office/drawing/2014/main" val="3867418700"/>
                    </a:ext>
                  </a:extLst>
                </a:gridCol>
                <a:gridCol w="1216844">
                  <a:extLst>
                    <a:ext uri="{9D8B030D-6E8A-4147-A177-3AD203B41FA5}">
                      <a16:colId xmlns:a16="http://schemas.microsoft.com/office/drawing/2014/main" val="4255309948"/>
                    </a:ext>
                  </a:extLst>
                </a:gridCol>
                <a:gridCol w="3389780">
                  <a:extLst>
                    <a:ext uri="{9D8B030D-6E8A-4147-A177-3AD203B41FA5}">
                      <a16:colId xmlns:a16="http://schemas.microsoft.com/office/drawing/2014/main" val="1424195402"/>
                    </a:ext>
                  </a:extLst>
                </a:gridCol>
              </a:tblGrid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Exp ID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Prompt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Page Selection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What Is Varied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Primary Objective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Exp Outcome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229567079"/>
                  </a:ext>
                </a:extLst>
              </a:tr>
              <a:tr h="6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Default generic prompt + specify Table title specify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65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8954.7s / 149.245minutes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table but all data table was extracted.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043423827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2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Default generic prompt + specify Table title specify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Manually selected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Pages Selection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Table and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r>
                        <a:rPr lang="en-MY" sz="1200" dirty="0"/>
                        <a:t>Reduce runtime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24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3740.5s / 62.34minutes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table but all data table was extracted. Same result as experiment 1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3586183"/>
                  </a:ext>
                </a:extLst>
              </a:tr>
              <a:tr h="79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3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Updated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Unable to capture due to remote connection lost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Unable to capture due to remote connection lost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the required table with the required information. However certain output format can be improved especially with regards to brine saturation data.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2622653985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4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</a:t>
                      </a:r>
                      <a:r>
                        <a:rPr lang="en-MY" sz="1200" dirty="0" err="1"/>
                        <a:t>Duyong</a:t>
                      </a:r>
                      <a:r>
                        <a:rPr lang="en-MY" sz="1200" dirty="0"/>
                        <a:t> Deep-1)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47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11073.0s / 184.55m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the required table with the required information (</a:t>
                      </a:r>
                      <a:r>
                        <a:rPr lang="en-US" sz="1200" dirty="0" err="1"/>
                        <a:t>keyword:PSI</a:t>
                      </a:r>
                      <a:r>
                        <a:rPr lang="en-US" sz="1200" dirty="0"/>
                        <a:t>).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66620499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5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❌wrong prompt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Same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•Total rows: 49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7996.6s / 133.2767m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only manage to capture table in page 16.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extracted value format using scientific notation is also not constant.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345473006"/>
                  </a:ext>
                </a:extLst>
              </a:tr>
              <a:tr h="41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6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❌wrong prompt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Same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•Total rows: 15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4070.0s / 67.83m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Unable to extract data table using keyword “</a:t>
                      </a:r>
                      <a:r>
                        <a:rPr lang="en-US" sz="1200" dirty="0" err="1"/>
                        <a:t>krw</a:t>
                      </a:r>
                      <a:r>
                        <a:rPr lang="en-US" sz="1200" dirty="0"/>
                        <a:t>”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909763709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7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26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8710.5s / 145.175m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Able to extract all table with keyword “</a:t>
                      </a:r>
                      <a:r>
                        <a:rPr lang="en-US" sz="1200" dirty="0" err="1"/>
                        <a:t>krw</a:t>
                      </a:r>
                      <a:r>
                        <a:rPr lang="en-US" sz="1200" dirty="0"/>
                        <a:t>” but missing the last page tables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33926895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611BEE-6CCD-E3F6-D50B-80B59210E7B9}"/>
              </a:ext>
            </a:extLst>
          </p:cNvPr>
          <p:cNvSpPr txBox="1"/>
          <p:nvPr/>
        </p:nvSpPr>
        <p:spPr>
          <a:xfrm>
            <a:off x="3136900" y="1334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Experiment Summary Table</a:t>
            </a:r>
          </a:p>
        </p:txBody>
      </p:sp>
    </p:spTree>
    <p:extLst>
      <p:ext uri="{BB962C8B-B14F-4D97-AF65-F5344CB8AC3E}">
        <p14:creationId xmlns:p14="http://schemas.microsoft.com/office/powerpoint/2010/main" val="382402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F20E-900A-9662-637F-A42B4D33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42633A-DFD2-C576-4928-45BC3B4BEA37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1CBB4-6AAB-5847-F2D4-2A17BB555A4D}"/>
              </a:ext>
            </a:extLst>
          </p:cNvPr>
          <p:cNvSpPr txBox="1"/>
          <p:nvPr/>
        </p:nvSpPr>
        <p:spPr>
          <a:xfrm>
            <a:off x="927100" y="1035050"/>
            <a:ext cx="883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Based on Use-Case 1 Purpose, the extraction of certain table within a pdf file that contains multiple tables, a specific Use-Case Prompt has been identified that is able to extract a table based on a “keyword”.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1C5BC-F7E5-A958-D4C8-E977A08EF4DA}"/>
              </a:ext>
            </a:extLst>
          </p:cNvPr>
          <p:cNvSpPr txBox="1"/>
          <p:nvPr/>
        </p:nvSpPr>
        <p:spPr>
          <a:xfrm>
            <a:off x="1689100" y="25590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</a:t>
            </a:r>
            <a:r>
              <a:rPr lang="en-MY" b="1" dirty="0" err="1"/>
              <a:t>arget</a:t>
            </a:r>
            <a:r>
              <a:rPr lang="en-MY" b="1" dirty="0"/>
              <a:t> table Specific SCAL Parameters prompts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B9E5E-7FBA-0812-0A7C-1F7F0CE21797}"/>
              </a:ext>
            </a:extLst>
          </p:cNvPr>
          <p:cNvSpPr txBox="1"/>
          <p:nvPr/>
        </p:nvSpPr>
        <p:spPr>
          <a:xfrm>
            <a:off x="1725127" y="2974836"/>
            <a:ext cx="53464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I need you to extract a specific table from this PDF document. The document contains multiple tables, but I'm only interested in the table that contains the keyword "[</a:t>
            </a:r>
            <a:r>
              <a:rPr lang="en-US" b="1" dirty="0"/>
              <a:t>keyword</a:t>
            </a:r>
            <a:r>
              <a:rPr lang="en-US" dirty="0"/>
              <a:t>]".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Please follow these steps:</a:t>
            </a:r>
          </a:p>
          <a:p>
            <a:pPr lvl="2"/>
            <a:r>
              <a:rPr lang="en-US" dirty="0"/>
              <a:t>1. Scan through all tables in the document</a:t>
            </a:r>
          </a:p>
          <a:p>
            <a:pPr lvl="2"/>
            <a:r>
              <a:rPr lang="en-US" dirty="0"/>
              <a:t>2. Identify the table that contains the keyword "[</a:t>
            </a:r>
            <a:r>
              <a:rPr lang="en-US" b="1" dirty="0"/>
              <a:t>keyword</a:t>
            </a:r>
            <a:r>
              <a:rPr lang="en-US" dirty="0"/>
              <a:t>]"</a:t>
            </a:r>
          </a:p>
          <a:p>
            <a:pPr lvl="2"/>
            <a:r>
              <a:rPr lang="en-US" dirty="0"/>
              <a:t>3. Extract the complete table including all headers, rows, and columns</a:t>
            </a:r>
          </a:p>
          <a:p>
            <a:pPr lvl="2"/>
            <a:r>
              <a:rPr lang="en-US" dirty="0"/>
              <a:t>4. If table present, extract ALL rows in exact order with exact column names as JSON array</a:t>
            </a:r>
          </a:p>
          <a:p>
            <a:pPr lvl="2"/>
            <a:r>
              <a:rPr lang="en-US" dirty="0"/>
              <a:t>5. Extract data ONLY if table present. If no table: {"</a:t>
            </a:r>
            <a:r>
              <a:rPr lang="en-US" dirty="0" err="1"/>
              <a:t>no_table</a:t>
            </a:r>
            <a:r>
              <a:rPr lang="en-US" dirty="0"/>
              <a:t>": true}</a:t>
            </a:r>
          </a:p>
        </p:txBody>
      </p:sp>
    </p:spTree>
    <p:extLst>
      <p:ext uri="{BB962C8B-B14F-4D97-AF65-F5344CB8AC3E}">
        <p14:creationId xmlns:p14="http://schemas.microsoft.com/office/powerpoint/2010/main" val="420953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E170-D330-844A-313D-4D51D94B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8EA16292-340D-2E32-AD68-7F608B61D9ED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2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(Graph Digitization)</a:t>
            </a:r>
          </a:p>
        </p:txBody>
      </p:sp>
    </p:spTree>
    <p:extLst>
      <p:ext uri="{BB962C8B-B14F-4D97-AF65-F5344CB8AC3E}">
        <p14:creationId xmlns:p14="http://schemas.microsoft.com/office/powerpoint/2010/main" val="195189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20AA-B609-CB90-D087-60EB94FB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1D15E-5D27-D3D9-7AEC-9378D2E1B28A}"/>
              </a:ext>
            </a:extLst>
          </p:cNvPr>
          <p:cNvSpPr txBox="1"/>
          <p:nvPr/>
        </p:nvSpPr>
        <p:spPr>
          <a:xfrm>
            <a:off x="35179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Version Limitation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5EB43-4185-FE8B-91A2-B7F35B7D41D5}"/>
              </a:ext>
            </a:extLst>
          </p:cNvPr>
          <p:cNvSpPr txBox="1"/>
          <p:nvPr/>
        </p:nvSpPr>
        <p:spPr>
          <a:xfrm>
            <a:off x="927100" y="1035050"/>
            <a:ext cx="883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800" dirty="0"/>
              <a:t>❌	</a:t>
            </a:r>
            <a:r>
              <a:rPr lang="en-US" dirty="0"/>
              <a:t>Unfortunately, due to model and version limitation, the current program is unable to tabulate data based on given graph.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The current version is missing a certain modules on extracting tabulation data from graph.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49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F761-97AF-73B7-B9E5-15367CC4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A5F146E6-D631-E21B-B15C-514A284D4E0C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3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(Extract Specific column only)</a:t>
            </a:r>
          </a:p>
        </p:txBody>
      </p:sp>
    </p:spTree>
    <p:extLst>
      <p:ext uri="{BB962C8B-B14F-4D97-AF65-F5344CB8AC3E}">
        <p14:creationId xmlns:p14="http://schemas.microsoft.com/office/powerpoint/2010/main" val="40595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DFAF-8B28-6A70-836E-B48985E5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AB04CD-FEFA-E1A6-5048-7527F8AAE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11094"/>
              </p:ext>
            </p:extLst>
          </p:nvPr>
        </p:nvGraphicFramePr>
        <p:xfrm>
          <a:off x="698500" y="1195122"/>
          <a:ext cx="9525000" cy="258312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47059">
                  <a:extLst>
                    <a:ext uri="{9D8B030D-6E8A-4147-A177-3AD203B41FA5}">
                      <a16:colId xmlns:a16="http://schemas.microsoft.com/office/drawing/2014/main" val="2984998665"/>
                    </a:ext>
                  </a:extLst>
                </a:gridCol>
                <a:gridCol w="2147795">
                  <a:extLst>
                    <a:ext uri="{9D8B030D-6E8A-4147-A177-3AD203B41FA5}">
                      <a16:colId xmlns:a16="http://schemas.microsoft.com/office/drawing/2014/main" val="2140819980"/>
                    </a:ext>
                  </a:extLst>
                </a:gridCol>
                <a:gridCol w="1067431">
                  <a:extLst>
                    <a:ext uri="{9D8B030D-6E8A-4147-A177-3AD203B41FA5}">
                      <a16:colId xmlns:a16="http://schemas.microsoft.com/office/drawing/2014/main" val="2714219668"/>
                    </a:ext>
                  </a:extLst>
                </a:gridCol>
                <a:gridCol w="956091">
                  <a:extLst>
                    <a:ext uri="{9D8B030D-6E8A-4147-A177-3AD203B41FA5}">
                      <a16:colId xmlns:a16="http://schemas.microsoft.com/office/drawing/2014/main" val="3867418700"/>
                    </a:ext>
                  </a:extLst>
                </a:gridCol>
                <a:gridCol w="1216844">
                  <a:extLst>
                    <a:ext uri="{9D8B030D-6E8A-4147-A177-3AD203B41FA5}">
                      <a16:colId xmlns:a16="http://schemas.microsoft.com/office/drawing/2014/main" val="4255309948"/>
                    </a:ext>
                  </a:extLst>
                </a:gridCol>
                <a:gridCol w="3389780">
                  <a:extLst>
                    <a:ext uri="{9D8B030D-6E8A-4147-A177-3AD203B41FA5}">
                      <a16:colId xmlns:a16="http://schemas.microsoft.com/office/drawing/2014/main" val="1424195402"/>
                    </a:ext>
                  </a:extLst>
                </a:gridCol>
              </a:tblGrid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Exp ID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Prompt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Page Selection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Documents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Primary Objective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Exp Outcome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229567079"/>
                  </a:ext>
                </a:extLst>
              </a:tr>
              <a:tr h="6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Simple prompt to extract Sample ID and Core Sample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Pegaga-2 </a:t>
                      </a:r>
                      <a:r>
                        <a:rPr lang="en-MY" sz="1200" dirty="0" err="1"/>
                        <a:t>RealPerm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043423827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2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Updated Specific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Manually selected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 err="1"/>
                        <a:t>Duyong</a:t>
                      </a:r>
                      <a:r>
                        <a:rPr lang="en-MY" sz="1200" dirty="0"/>
                        <a:t> Deep-1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3586183"/>
                  </a:ext>
                </a:extLst>
              </a:tr>
              <a:tr h="79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 3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Updated Specific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Manually selected pages</a:t>
                      </a:r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A3.1 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26226539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B9766-DE8A-A3ED-F11F-400B112504B7}"/>
              </a:ext>
            </a:extLst>
          </p:cNvPr>
          <p:cNvSpPr txBox="1"/>
          <p:nvPr/>
        </p:nvSpPr>
        <p:spPr>
          <a:xfrm>
            <a:off x="2946400" y="273050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Experiment Summary Table</a:t>
            </a:r>
          </a:p>
        </p:txBody>
      </p:sp>
    </p:spTree>
    <p:extLst>
      <p:ext uri="{BB962C8B-B14F-4D97-AF65-F5344CB8AC3E}">
        <p14:creationId xmlns:p14="http://schemas.microsoft.com/office/powerpoint/2010/main" val="43030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33C5-3097-A996-5E9E-540D26CC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2B8D42-6BEB-F229-C097-8D521C62BAB3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Ongoing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712F5-BB55-8B28-B779-F94A98778934}"/>
              </a:ext>
            </a:extLst>
          </p:cNvPr>
          <p:cNvSpPr txBox="1"/>
          <p:nvPr/>
        </p:nvSpPr>
        <p:spPr>
          <a:xfrm>
            <a:off x="927100" y="1035050"/>
            <a:ext cx="883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Based on Use-Case 3 Purpose, the extraction of certain column within a table is still unable to be completed because we still have not found the correct prompt to use.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3A4305-9983-B6FF-B5B6-0860BDBC845A}"/>
              </a:ext>
            </a:extLst>
          </p:cNvPr>
          <p:cNvSpPr txBox="1"/>
          <p:nvPr/>
        </p:nvSpPr>
        <p:spPr>
          <a:xfrm>
            <a:off x="317500" y="2089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1</a:t>
            </a:r>
            <a:endParaRPr lang="en-MY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C9F80-1758-83CA-465E-3A3B3DEFD631}"/>
              </a:ext>
            </a:extLst>
          </p:cNvPr>
          <p:cNvSpPr txBox="1"/>
          <p:nvPr/>
        </p:nvSpPr>
        <p:spPr>
          <a:xfrm>
            <a:off x="241300" y="2542470"/>
            <a:ext cx="464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Please identify all table in the file. </a:t>
            </a:r>
          </a:p>
          <a:p>
            <a:pPr lvl="2"/>
            <a:r>
              <a:rPr lang="en-US" dirty="0"/>
              <a:t>after that, extract  all porosity values per core sample or sample ID.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5F085-C4B6-C94C-5531-049C9F709ABF}"/>
              </a:ext>
            </a:extLst>
          </p:cNvPr>
          <p:cNvSpPr txBox="1"/>
          <p:nvPr/>
        </p:nvSpPr>
        <p:spPr>
          <a:xfrm>
            <a:off x="4889500" y="2067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2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5EEDC-7CC0-EB9B-F8C5-ADAE04E867C0}"/>
              </a:ext>
            </a:extLst>
          </p:cNvPr>
          <p:cNvSpPr txBox="1"/>
          <p:nvPr/>
        </p:nvSpPr>
        <p:spPr>
          <a:xfrm>
            <a:off x="4892869" y="2405578"/>
            <a:ext cx="5346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Extract data from the table in this document.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Target columns (by description, not name): </a:t>
            </a:r>
          </a:p>
          <a:p>
            <a:pPr marL="342900" lvl="2" indent="-342900">
              <a:buAutoNum type="arabicPeriod"/>
            </a:pPr>
            <a:r>
              <a:rPr lang="en-US" dirty="0"/>
              <a:t>[“Sample Core or Sample ID"] </a:t>
            </a:r>
          </a:p>
          <a:p>
            <a:pPr lvl="2"/>
            <a:r>
              <a:rPr lang="en-US" dirty="0"/>
              <a:t>2. [“Porosity Value"]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to identify these columns: </a:t>
            </a:r>
          </a:p>
          <a:p>
            <a:pPr marL="285750" lvl="2" indent="-285750">
              <a:buFontTx/>
              <a:buChar char="-"/>
            </a:pPr>
            <a:r>
              <a:rPr lang="en-US" dirty="0"/>
              <a:t>Column 1: [By name] </a:t>
            </a:r>
          </a:p>
          <a:p>
            <a:pPr marL="285750" lvl="2" indent="-285750">
              <a:buFontTx/>
              <a:buChar char="-"/>
            </a:pPr>
            <a:r>
              <a:rPr lang="en-US" dirty="0"/>
              <a:t>Column 2: [By name] </a:t>
            </a:r>
          </a:p>
          <a:p>
            <a:pPr marL="285750" lvl="2" indent="-285750">
              <a:buFontTx/>
              <a:buChar char="-"/>
            </a:pPr>
            <a:endParaRPr lang="en-US" dirty="0"/>
          </a:p>
          <a:p>
            <a:pPr lvl="2"/>
            <a:r>
              <a:rPr lang="en-US" dirty="0"/>
              <a:t>Extract these two columns only. </a:t>
            </a:r>
          </a:p>
          <a:p>
            <a:pPr lvl="2"/>
            <a:r>
              <a:rPr lang="en-US" dirty="0"/>
              <a:t>Output as: [Sample ID] | [Porosity value]</a:t>
            </a:r>
          </a:p>
        </p:txBody>
      </p:sp>
    </p:spTree>
    <p:extLst>
      <p:ext uri="{BB962C8B-B14F-4D97-AF65-F5344CB8AC3E}">
        <p14:creationId xmlns:p14="http://schemas.microsoft.com/office/powerpoint/2010/main" val="2820751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3A71-037A-4B59-0812-F650FF08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7678D8-6DD2-5EF4-02FC-3D60B1AA64BE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Ongoing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7F182-EBAC-3C03-ACC3-9B6885F8B436}"/>
              </a:ext>
            </a:extLst>
          </p:cNvPr>
          <p:cNvSpPr txBox="1"/>
          <p:nvPr/>
        </p:nvSpPr>
        <p:spPr>
          <a:xfrm>
            <a:off x="1460500" y="882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3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DE35F-FC38-F6BF-2281-3CD638550C7A}"/>
              </a:ext>
            </a:extLst>
          </p:cNvPr>
          <p:cNvSpPr txBox="1"/>
          <p:nvPr/>
        </p:nvSpPr>
        <p:spPr>
          <a:xfrm>
            <a:off x="1231900" y="1214012"/>
            <a:ext cx="85344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I need you to extract specific data from a table in this document.</a:t>
            </a:r>
          </a:p>
          <a:p>
            <a:pPr lvl="2"/>
            <a:r>
              <a:rPr lang="en-US" dirty="0"/>
              <a:t>Table identification: [“First Table in the page"] </a:t>
            </a:r>
          </a:p>
          <a:p>
            <a:pPr lvl="2"/>
            <a:r>
              <a:rPr lang="en-US" dirty="0"/>
              <a:t>What I need to extract: </a:t>
            </a:r>
          </a:p>
          <a:p>
            <a:pPr lvl="2"/>
            <a:r>
              <a:rPr lang="en-US" dirty="0"/>
              <a:t>- Column A: [“Sample ID"] </a:t>
            </a:r>
          </a:p>
          <a:p>
            <a:pPr lvl="2"/>
            <a:r>
              <a:rPr lang="en-US" dirty="0"/>
              <a:t>- Column B: [“Helium Porosity 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Column identification guidance: </a:t>
            </a:r>
          </a:p>
          <a:p>
            <a:pPr lvl="2"/>
            <a:r>
              <a:rPr lang="en-US" dirty="0"/>
              <a:t>For Column A, look for: </a:t>
            </a:r>
          </a:p>
          <a:p>
            <a:pPr lvl="2"/>
            <a:r>
              <a:rPr lang="en-US" dirty="0"/>
              <a:t>- [Data characteristics, e.g., "alphanumeric codes“]</a:t>
            </a:r>
          </a:p>
          <a:p>
            <a:pPr lvl="2"/>
            <a:r>
              <a:rPr lang="en-US" dirty="0"/>
              <a:t>- [Value patterns, e.g., “unique for each row’”]</a:t>
            </a:r>
          </a:p>
          <a:p>
            <a:pPr lvl="2"/>
            <a:r>
              <a:rPr lang="en-US" dirty="0"/>
              <a:t>- [Position hints, e.g., "usually the first column“]</a:t>
            </a:r>
          </a:p>
          <a:p>
            <a:pPr lvl="2"/>
            <a:r>
              <a:rPr lang="en-US" dirty="0"/>
              <a:t>For Column B, look for: </a:t>
            </a:r>
          </a:p>
          <a:p>
            <a:pPr lvl="2"/>
            <a:r>
              <a:rPr lang="en-US" dirty="0"/>
              <a:t>- [Data characteristics, e.g., "numeric values “]</a:t>
            </a:r>
          </a:p>
          <a:p>
            <a:pPr lvl="2"/>
            <a:r>
              <a:rPr lang="en-US" dirty="0"/>
              <a:t>- [Value patterns, e.g., "decimal numbers"] </a:t>
            </a:r>
          </a:p>
          <a:p>
            <a:pPr lvl="2"/>
            <a:r>
              <a:rPr lang="en-US" dirty="0"/>
              <a:t>- [Position hints, e.g., "usually the column placed in the middle"]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Task: </a:t>
            </a:r>
          </a:p>
          <a:p>
            <a:pPr lvl="2"/>
            <a:r>
              <a:rPr lang="en-US" dirty="0"/>
              <a:t>1. Identify the table </a:t>
            </a:r>
          </a:p>
          <a:p>
            <a:pPr lvl="2"/>
            <a:r>
              <a:rPr lang="en-US" dirty="0"/>
              <a:t>2. Determine which columns match the descriptions above </a:t>
            </a:r>
          </a:p>
          <a:p>
            <a:pPr lvl="2"/>
            <a:r>
              <a:rPr lang="en-US" dirty="0"/>
              <a:t>3. Extract only those columns for all rows as JSON array</a:t>
            </a:r>
          </a:p>
          <a:p>
            <a:pPr lvl="2"/>
            <a:r>
              <a:rPr lang="en-US" dirty="0"/>
              <a:t>4. Ignore all other columns </a:t>
            </a:r>
          </a:p>
        </p:txBody>
      </p:sp>
    </p:spTree>
    <p:extLst>
      <p:ext uri="{BB962C8B-B14F-4D97-AF65-F5344CB8AC3E}">
        <p14:creationId xmlns:p14="http://schemas.microsoft.com/office/powerpoint/2010/main" val="3362231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Agentic Document Extraction (ADE)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LandingAI framework — docs.landing.ai/ade/ade-overview  |  github.com/landing-ai/ade-helper-scripts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1380000"/>
            <a:ext cx="5146700" cy="5976500"/>
          </a:xfrm>
          <a:prstGeom prst="rect">
            <a:avLst/>
          </a:prstGeom>
          <a:solidFill>
            <a:srgbClr val="F2F2F2"/>
          </a:solidFill>
          <a:ln w="9525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0000" y="1500000"/>
            <a:ext cx="4946700" cy="577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800" b="1" u="sng" dirty="0">
                <a:solidFill>
                  <a:srgbClr val="002060"/>
                </a:solidFill>
              </a:rPr>
              <a:t>What is ADE?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dirty="0">
                <a:solidFill>
                  <a:srgbClr val="000000"/>
                </a:solidFill>
              </a:rPr>
              <a:t>Agentic Document Extraction (ADE) is a document intelligence pipeline that converts unstructured documents — PDFs, scans, images — into reliable, structured, machine-readable data suitable for RAG, search, and ML applications.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400" b="1" dirty="0">
                <a:solidFill>
                  <a:srgbClr val="002060"/>
                </a:solidFill>
              </a:rPr>
              <a:t>Core ADE Pipeline (LandingAI):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Parse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Converts documents to structured Markdown + JSON chunks. Each chunk (text, table, figure) gets page number and bounding box coordinates.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Split  (optional)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Separates multi-document files into individual documents by type (e.g., batch KYC packages).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Extract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Schema-based field extraction — define field names, API returns matching values from parsed content.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70AD47"/>
                </a:solidFill>
              </a:rPr>
              <a:t>Benchmark accuracy: 99.16% on DocVQA dataset (LandingAI,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6700" y="1380000"/>
            <a:ext cx="5146700" cy="59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6700" y="1500000"/>
            <a:ext cx="4946700" cy="577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800" b="1" u="sng" dirty="0">
                <a:solidFill>
                  <a:srgbClr val="002060"/>
                </a:solidFill>
              </a:rPr>
              <a:t>Key Features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Layout-agnostic parsing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Works out-of-the-box — no templates or training needed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Element detection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Text, tables, images, form fields, barcodes — all detected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Visual grounding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Bounding box + page number per chunk for traceability and compliance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Hierarchical understanding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Reading order and element relationships preserved across pages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Schema-based field extraction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Define field names — API extracts matching values automatically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Flexible output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Markdown (human-readable) + JSON (programmatic access)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Multi-file type support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PDF, images, presentations, spreadsheets, text documents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Multi-language support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Parses documents in many languages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Cloud API / scalable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REST API, async batch jobs, AWS Lambda, Snowflake compatible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ADE Comparison: LandingAI vs Our olmOCR ADE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Key differences across access model, infrastructure, capabilities, and data privacy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60000"/>
          <a:ext cx="10393400" cy="6097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03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LandingAI ADE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olmOCR ADE (PETRO-AFRO)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Access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Cloud API — paid credits, internet required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Fully offline — on-premise GPU, no external dependency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Proprietary DPT-2 (LandingAI closed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allenai/olmOCR-2-7B-1025-FP8 (open weights)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Model quantization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Unknown — proprietary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FP8 via compressed-tensors — ~7 GB VRAM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Input image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Handled internally by the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1288 px longest dimension (pdftoppm -scale-to 1288)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Prompting strategy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Schema-driven JSON field definitions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 v4 YAML prompt + LLM Prompt Optimizer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OCR output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Markdown + JSON chunks + bounding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Markdown + YAML front matter (language, rotation, is_table, is_diagram)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Table extraction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Native structured HTML/Markdown tables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HTML &lt;table&gt; in markdown; rendered as Treeview in GUI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Figure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Description + bounding box coordinate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Alt-text label + page_x_y_w_h.png filename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Post-processing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ADE Extract API (schema-based, cloud call)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PostProcessAgent — local / Groq / OpenAI LLM, anti-hallucination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Export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+ Excel (.xlsx) +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User interface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 — API calls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Full tkinter GUI with preview, extract, post-process, export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Per-page credit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Hardware only (GPU power)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Data privacy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Data leaves premises — sent to LandingAI servers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Data stays entirely on-premise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Graph digitization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Bounding box only — no data point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limitation (VLM model constraint, FP8 version)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603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Not possible — closed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Planned — domain-specific SCAL corpus fine-tuning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olmOCR: Original vs Our ADE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Technical parameter comparison — model, inference backend, pipeline, and interface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60000"/>
          <a:ext cx="10393400" cy="613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Original olmOCR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olmOCR ADE (PETRO-AFRO)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Model variant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olmOCR-7B (FP32 / BF16)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olmOCR-2-7B-1025-FP8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VRAM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~7 GB (FP8 quantization via compressed-tensors 0.12.2)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Processor / tokenizer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Qwen2.5-VL-7B-Instruct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Inference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vLLM (batch server, production-optimised)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HuggingFace Transformers (single GPU, interactive)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PDF rendering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pdftoppm via pipeline wrapper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Direct pdftoppm subprocess — temp file — read back —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Image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1288 px longest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(pdftoppm -scale-to 1288 flag)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Base prompt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build_no_anchoring_v4_yaml_prompt()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base + LLM Prompt Optimizer (system-constrained)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Decoding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Greedy (temperature = 0.0, do_sample = False)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— matches official pipeline,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Max new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YAML front matter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primary_language, is_rotation_valid, rotation_correction, is_table, is_diagram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Anchor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 anchoring (v4 prompt — no pdftotext context)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Page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All pages, batch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User selects pages via checkboxes — selective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Post-processing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 — raw text output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PostProcessAgent (LLM) — full document → structured JSON records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Table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HTML &lt;table&gt; → Treeview grid in GUI (Rendered Tables tab)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Export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(pipeline output)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+ Excel (.xlsx) + CSV — with metadata sheet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User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CLI / pipeline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tkinter GUI — document preview, extract, post-process,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Timing /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Logged per batch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Per-page duration (s) and token count in Page Timings tab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Extraction Results — Angsi 1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Document: CORE ANALYSIS REPORT, ANGSI WELL NO.1 (ESSO Exploration Malaysia, 1974/1976)  |  17 pages extracted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30000"/>
          <a:ext cx="10393400" cy="55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1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0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Content Summary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document title, authors, 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report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report title block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Report details — author, division, date, confidentiality notice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of Contents — Tables I, II, III; Figures 1–9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 — Porosity &amp; Permeability Data (12 core samples, 6 columns)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2,512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II — Centrifuge Gas-Oil Capillary Pressure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III — Electrical Property Measurements (4 cores: AN-28, AN-29, AN-32, AN-38)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1 — Capillary Pressure Curve (Core AN-30, 8015 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2 — Capillary Pressure Curve (Core AN-36, 8037 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3 — Capillary Pressure Curve (Core AN-37, 8038 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4 — Capillary Pressure Curve (Core AN-39, 8040 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5 — Resistivity Ratio vs Sw (Core AN-28, Desat. Exp. 2.11)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6 — Resistivity Ratio vs Sw (Core AN-29, Desat. Exp. 2.01)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7 — Resistivity Ratio vs Sw (Core AN-32, Desat. Exp. 1.94) — table inside figure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8 — Resistivity Ratio vs Sw (Core AN-38, Desat. Exp. 2.45)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981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9 — Formation Factor vs Porosity (Cementation Factor 2.06)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0000" y="7006500"/>
            <a:ext cx="103934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0000" y="7086500"/>
            <a:ext cx="10093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TOTAL:  17 pages  |  4,086.5 s (~68.1 min)  |  33,380 tokens  |  3 data tables (HTML)  |  9 figures labeled  |  Complex table pages (6–8) took 12.9–15.9 min each due to large token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Extracted Page 6 — TABLE I (Porosity &amp; Permeability)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Core samples: AN-28 through AN-39  |  Duration: 13.29 min  |  Tokens: 2,726</a:t>
            </a:r>
          </a:p>
        </p:txBody>
      </p:sp>
      <p:pic>
        <p:nvPicPr>
          <p:cNvPr id="5" name="Picture 4" descr="temp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Extracted Page 7 — TABLE II (Gas-Oil Capillary Pressure)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Cores: AN-30, AN-36  |  Duration: 12.94 min  |  Tokens: 2,512</a:t>
            </a:r>
          </a:p>
        </p:txBody>
      </p:sp>
      <p:pic>
        <p:nvPicPr>
          <p:cNvPr id="5" name="Picture 4" descr="temp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Extracted Page 8 — TABLE III (Electrical Properties)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Cores: AN-28, AN-29, AN-32, AN-38  |  Duration: 15.88 min  |  Tokens: 2,878</a:t>
            </a:r>
          </a:p>
        </p:txBody>
      </p:sp>
      <p:pic>
        <p:nvPicPr>
          <p:cNvPr id="5" name="Picture 4" descr="temp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Extracted Page 9 — FIGURE 1 (Capillary Pressure Curve)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Core: AN-30, Depth: 8015 ft  |  Duration: 1.92 min  |  Tokens: 1,797</a:t>
            </a:r>
          </a:p>
        </p:txBody>
      </p:sp>
      <p:pic>
        <p:nvPicPr>
          <p:cNvPr id="5" name="Picture 4" descr="temp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1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Extracted Structured Tables — Angsi 1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  <a:latin typeface="Calibri"/>
              </a:rPr>
              <a:t>Pages 6–8: olmOCR successfully extracted all 3 SCAL data tables in HTML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1360000"/>
            <a:ext cx="3414466" cy="3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000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I — Porosity &amp; Permeability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00" y="1740000"/>
          <a:ext cx="3414464" cy="558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056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Depth (ft)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Plug No.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Porosity (%)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Gas Perm. (md)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AN-34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Calibri"/>
                        </a:rPr>
                        <a:t>8038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1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37.1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39466" y="1360000"/>
            <a:ext cx="3414466" cy="3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9466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TABLE II — Gas-Oil Capillary Pressure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39466" y="1740000"/>
          <a:ext cx="3414464" cy="561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8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Pc (PSI)
AN-30</a:t>
                      </a:r>
                    </a:p>
                    <a:p>
                      <a:r>
                        <a:rPr dirty="0"/>
                        <a:t>AN-30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Liq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Sat%
AN-30</a:t>
                      </a:r>
                    </a:p>
                    <a:p>
                      <a:r>
                        <a:rPr dirty="0"/>
                        <a:t>AN-30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Pc (PSI)
AN-36</a:t>
                      </a:r>
                    </a:p>
                    <a:p>
                      <a:r>
                        <a:t>AN-36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Liq Sat%
AN-36</a:t>
                      </a:r>
                    </a:p>
                    <a:p>
                      <a:r>
                        <a:t>AN-36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2.4*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3.0*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30.4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91.8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27.1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1.9*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5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128932" y="1360000"/>
            <a:ext cx="3414466" cy="3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88932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III — Electrical Properties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28932" y="1740000"/>
          <a:ext cx="3414462" cy="5068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Depth (ft)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Por. (%)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Perm. (md)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Sat. Exp.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Calibri"/>
                        </a:rPr>
                        <a:t>AN-28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58.03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0000" y="7295997"/>
            <a:ext cx="11445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 dirty="0">
                <a:solidFill>
                  <a:srgbClr val="000000"/>
                </a:solidFill>
                <a:latin typeface="Calibri"/>
              </a:rPr>
              <a:t>* Estimated  |  FF = Formation Factor  |  Sat. Exp. = Saturation Exponent  |  Brine: Lab Synthetic (80,000 ppm NaCl + 20,000 ppm KCl)  |  Gas-Oil Surface Tension = 28.0 Dynes/CM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11950</TotalTime>
  <Words>3173</Words>
  <Application>Microsoft Office PowerPoint</Application>
  <PresentationFormat>Custom</PresentationFormat>
  <Paragraphs>581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UI</vt:lpstr>
      <vt:lpstr>Segoe UI Light</vt:lpstr>
      <vt:lpstr>Office Theme</vt:lpstr>
      <vt:lpstr>PETRONAS Advanced Analytics Framework for Resource Optimization (PETRO-AFRO)</vt:lpstr>
      <vt:lpstr>Last Meeting 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PETRONAS Advanced Analytics Framework for Resource Optimization (PETRO-AFRO)</dc:title>
  <dc:creator>Mining</dc:creator>
  <cp:lastModifiedBy>office</cp:lastModifiedBy>
  <cp:revision>487</cp:revision>
  <dcterms:created xsi:type="dcterms:W3CDTF">2025-06-26T05:29:53Z</dcterms:created>
  <dcterms:modified xsi:type="dcterms:W3CDTF">2026-03-04T00:10:31Z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Mozilla/5.0 (Windows NT 10.0; Win64; x64) AppleWebKit/537.36 (KHTML, like Gecko) Chrome/137.0.0.0 Safari/537.36</vt:lpwstr>
  </property>
  <property fmtid="{D5CDD505-2E9C-101B-9397-08002B2CF9AE}" pid="4" name="LastSaved">
    <vt:filetime>2025-06-26T00:00:00Z</vt:filetime>
  </property>
  <property fmtid="{D5CDD505-2E9C-101B-9397-08002B2CF9AE}" pid="5" name="Producer">
    <vt:lpwstr>Skia/PDF m137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2025-06-26T05:34:01Z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f11b2fb6-1395-467d-a26e-965a8d1af5a6</vt:lpwstr>
  </property>
  <property fmtid="{D5CDD505-2E9C-101B-9397-08002B2CF9AE}" pid="11" name="MSIP_Label_defa4170-0d19-0005-0004-bc88714345d2_ActionId">
    <vt:lpwstr>0b16ed8e-8a2e-4b66-8f5a-6ded919ca11a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MSIP_Label_defa4170-0d19-0005-0004-bc88714345d2_Tag">
    <vt:lpwstr>10, 3, 0, 1</vt:lpwstr>
  </property>
</Properties>
</file>