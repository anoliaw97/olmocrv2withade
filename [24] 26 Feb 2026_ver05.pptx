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4"/>
  </p:notesMasterIdLst>
  <p:sldIdLst>
    <p:sldId id="256" r:id="rId2"/>
    <p:sldId id="471" r:id="rId3"/>
    <p:sldId id="478" r:id="rId4"/>
    <p:sldId id="452" r:id="rId5"/>
    <p:sldId id="447" r:id="rId6"/>
    <p:sldId id="453" r:id="rId7"/>
    <p:sldId id="454" r:id="rId8"/>
    <p:sldId id="472" r:id="rId9"/>
    <p:sldId id="473" r:id="rId10"/>
    <p:sldId id="474" r:id="rId11"/>
    <p:sldId id="475" r:id="rId12"/>
    <p:sldId id="476" r:id="rId13"/>
    <p:sldId id="477" r:id="rId14"/>
    <p:sldId id="480" r:id="rId15"/>
    <p:sldId id="481" r:id="rId16"/>
    <p:sldId id="482" r:id="rId17"/>
    <p:sldId id="483" r:id="rId18"/>
    <p:sldId id="484" r:id="rId19"/>
    <p:sldId id="485" r:id="rId20"/>
    <p:sldId id="486" r:id="rId21"/>
    <p:sldId id="487" r:id="rId22"/>
    <p:sldId id="491" r:id="rId23"/>
    <p:sldId id="492" r:id="rId29"/>
    <p:sldId id="493" r:id="rId30"/>
    <p:sldId id="494" r:id="rId31"/>
    <p:sldId id="495" r:id="rId32"/>
    <p:sldId id="496" r:id="rId33"/>
  </p:sldIdLst>
  <p:sldSz cx="10693400" cy="7556500"/>
  <p:notesSz cx="10693400" cy="75565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3765" autoAdjust="0"/>
  </p:normalViewPr>
  <p:slideViewPr>
    <p:cSldViewPr>
      <p:cViewPr varScale="1">
        <p:scale>
          <a:sx n="95" d="100"/>
          <a:sy n="95" d="100"/>
        </p:scale>
        <p:origin x="1602" y="9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633913" cy="3794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057900" y="0"/>
            <a:ext cx="4632325" cy="3794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049CAF-BF1C-4E7A-BFCE-ACFF36EEA8DB}" type="datetimeFigureOut">
              <a:rPr lang="en-MY" smtClean="0"/>
              <a:t>4/3/2026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541713" y="944563"/>
            <a:ext cx="3609975" cy="25511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069975" y="3636963"/>
            <a:ext cx="8553450" cy="29749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7177088"/>
            <a:ext cx="4633913" cy="3794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057900" y="7177088"/>
            <a:ext cx="4632325" cy="3794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D7CCD0-ABD6-41FF-B324-73CA0E8FD2DF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9145588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02005" y="2342515"/>
            <a:ext cx="9089390" cy="15868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300" b="1" i="0">
                <a:solidFill>
                  <a:srgbClr val="1A1A1A"/>
                </a:solidFill>
                <a:latin typeface="Segoe UI"/>
                <a:cs typeface="Segoe U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604010" y="4231640"/>
            <a:ext cx="7485380" cy="18891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50" b="0" i="0">
                <a:solidFill>
                  <a:srgbClr val="666666"/>
                </a:solidFill>
                <a:latin typeface="Segoe UI"/>
                <a:cs typeface="Segoe UI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300" b="1" i="0">
                <a:solidFill>
                  <a:srgbClr val="1A1A1A"/>
                </a:solidFill>
                <a:latin typeface="Segoe UI"/>
                <a:cs typeface="Segoe U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50" b="0" i="0">
                <a:solidFill>
                  <a:srgbClr val="666666"/>
                </a:solidFill>
                <a:latin typeface="Segoe UI"/>
                <a:cs typeface="Segoe UI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300" b="1" i="0">
                <a:solidFill>
                  <a:srgbClr val="1A1A1A"/>
                </a:solidFill>
                <a:latin typeface="Segoe UI"/>
                <a:cs typeface="Segoe U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534670" y="1737995"/>
            <a:ext cx="4651629" cy="498729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507101" y="1737995"/>
            <a:ext cx="4651629" cy="498729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3/4/2026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50" b="0" i="0">
                <a:solidFill>
                  <a:srgbClr val="666666"/>
                </a:solidFill>
                <a:latin typeface="Segoe UI"/>
                <a:cs typeface="Segoe UI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300" b="1" i="0">
                <a:solidFill>
                  <a:srgbClr val="1A1A1A"/>
                </a:solidFill>
                <a:latin typeface="Segoe UI"/>
                <a:cs typeface="Segoe U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3/4/2026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50" b="0" i="0">
                <a:solidFill>
                  <a:srgbClr val="666666"/>
                </a:solidFill>
                <a:latin typeface="Segoe UI"/>
                <a:cs typeface="Segoe UI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3/4/2026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50" b="0" i="0">
                <a:solidFill>
                  <a:srgbClr val="666666"/>
                </a:solidFill>
                <a:latin typeface="Segoe UI"/>
                <a:cs typeface="Segoe UI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732089" y="471932"/>
            <a:ext cx="7229221" cy="37656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300" b="1" i="0">
                <a:solidFill>
                  <a:srgbClr val="1A1A1A"/>
                </a:solidFill>
                <a:latin typeface="Segoe UI"/>
                <a:cs typeface="Segoe U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19099" y="1216152"/>
            <a:ext cx="9851390" cy="327088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635756" y="7027545"/>
            <a:ext cx="3421888" cy="3778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534670" y="7027545"/>
            <a:ext cx="2459482" cy="3778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0290300" y="7208630"/>
            <a:ext cx="221615" cy="22034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50" b="0" i="0">
                <a:solidFill>
                  <a:srgbClr val="666666"/>
                </a:solidFill>
                <a:latin typeface="Segoe UI"/>
                <a:cs typeface="Segoe UI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133871" y="2482850"/>
            <a:ext cx="8422005" cy="10496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781050" marR="5080" indent="-768985">
              <a:lnSpc>
                <a:spcPct val="112000"/>
              </a:lnSpc>
              <a:spcBef>
                <a:spcPts val="95"/>
              </a:spcBef>
            </a:pPr>
            <a:r>
              <a:rPr sz="3000" dirty="0"/>
              <a:t>PETRONAS</a:t>
            </a:r>
            <a:r>
              <a:rPr sz="3000" spc="-15" dirty="0"/>
              <a:t> </a:t>
            </a:r>
            <a:r>
              <a:rPr sz="3000" dirty="0"/>
              <a:t>Advanced</a:t>
            </a:r>
            <a:r>
              <a:rPr sz="3000" spc="-10" dirty="0"/>
              <a:t> </a:t>
            </a:r>
            <a:r>
              <a:rPr sz="3000" dirty="0"/>
              <a:t>Analytics</a:t>
            </a:r>
            <a:r>
              <a:rPr sz="3000" spc="-10" dirty="0"/>
              <a:t> </a:t>
            </a:r>
            <a:r>
              <a:rPr sz="3000" dirty="0"/>
              <a:t>Framework</a:t>
            </a:r>
            <a:r>
              <a:rPr sz="3000" spc="-10" dirty="0"/>
              <a:t> </a:t>
            </a:r>
            <a:r>
              <a:rPr sz="3000" spc="-25" dirty="0"/>
              <a:t>for </a:t>
            </a:r>
            <a:r>
              <a:rPr sz="3000" dirty="0"/>
              <a:t>Resource</a:t>
            </a:r>
            <a:r>
              <a:rPr sz="3000" spc="-10" dirty="0"/>
              <a:t> </a:t>
            </a:r>
            <a:r>
              <a:rPr sz="3000" dirty="0"/>
              <a:t>Optimization</a:t>
            </a:r>
            <a:r>
              <a:rPr sz="3000" spc="-10" dirty="0"/>
              <a:t> (PETRO-AFRO)</a:t>
            </a:r>
            <a:endParaRPr sz="3000"/>
          </a:p>
        </p:txBody>
      </p:sp>
      <p:sp>
        <p:nvSpPr>
          <p:cNvPr id="3" name="object 3"/>
          <p:cNvSpPr txBox="1"/>
          <p:nvPr/>
        </p:nvSpPr>
        <p:spPr>
          <a:xfrm>
            <a:off x="927100" y="3960520"/>
            <a:ext cx="8686800" cy="323807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25"/>
              </a:spcBef>
            </a:pPr>
            <a:r>
              <a:rPr lang="en-US" sz="2000" b="1" dirty="0">
                <a:solidFill>
                  <a:srgbClr val="1A1A1A"/>
                </a:solidFill>
                <a:latin typeface="Segoe UI Light"/>
                <a:cs typeface="Segoe UI Light"/>
              </a:rPr>
              <a:t>AI-Assisted Relative Permeability Composer – Data Extraction &amp; Data Preparation</a:t>
            </a:r>
            <a:endParaRPr sz="2000" b="1" dirty="0">
              <a:latin typeface="Segoe UI Light"/>
              <a:cs typeface="Segoe UI Light"/>
            </a:endParaRPr>
          </a:p>
        </p:txBody>
      </p:sp>
      <p:pic>
        <p:nvPicPr>
          <p:cNvPr id="5" name="Google Shape;791;p1">
            <a:extLst>
              <a:ext uri="{FF2B5EF4-FFF2-40B4-BE49-F238E27FC236}">
                <a16:creationId xmlns:a16="http://schemas.microsoft.com/office/drawing/2014/main" id="{365A3EC8-3A86-1340-7D57-3B98E464819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651500" y="448866"/>
            <a:ext cx="2171700" cy="748114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792;p1" descr="A logo with a black background&#10;&#10;Description automatically generated">
            <a:extLst>
              <a:ext uri="{FF2B5EF4-FFF2-40B4-BE49-F238E27FC236}">
                <a16:creationId xmlns:a16="http://schemas.microsoft.com/office/drawing/2014/main" id="{BD73C1E3-1119-F9B9-0B98-B1338C2A642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706479" y="138712"/>
            <a:ext cx="1368423" cy="1368423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3A663D4-8434-71B1-EBF4-21EC456F2546}"/>
              </a:ext>
            </a:extLst>
          </p:cNvPr>
          <p:cNvSpPr txBox="1"/>
          <p:nvPr/>
        </p:nvSpPr>
        <p:spPr>
          <a:xfrm>
            <a:off x="2908300" y="4508220"/>
            <a:ext cx="534725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MY" dirty="0"/>
              <a:t>Project Leader: Dr. Ervin Gubin </a:t>
            </a:r>
            <a:r>
              <a:rPr lang="en-MY" dirty="0" err="1"/>
              <a:t>Moung</a:t>
            </a:r>
            <a:endParaRPr lang="en-MY" dirty="0"/>
          </a:p>
          <a:p>
            <a:pPr algn="ctr"/>
            <a:endParaRPr lang="en-MY" dirty="0"/>
          </a:p>
          <a:p>
            <a:pPr algn="ctr"/>
            <a:r>
              <a:rPr lang="en-MY" dirty="0"/>
              <a:t>Institution: Faculty of Computing and Informatics, </a:t>
            </a:r>
            <a:r>
              <a:rPr lang="en-MY" dirty="0" err="1"/>
              <a:t>Universiti</a:t>
            </a:r>
            <a:r>
              <a:rPr lang="en-MY" dirty="0"/>
              <a:t> Malaysia Sabah</a:t>
            </a:r>
          </a:p>
          <a:p>
            <a:pPr algn="ctr"/>
            <a:endParaRPr lang="en-MY" dirty="0"/>
          </a:p>
          <a:p>
            <a:pPr algn="ctr"/>
            <a:r>
              <a:rPr lang="en-MY" dirty="0"/>
              <a:t>26 February 2026</a:t>
            </a:r>
            <a:br>
              <a:rPr lang="en-MY" dirty="0"/>
            </a:br>
            <a:br>
              <a:rPr lang="en-MY" dirty="0"/>
            </a:br>
            <a:r>
              <a:rPr lang="en-MY" dirty="0"/>
              <a:t>Research Assistants: </a:t>
            </a:r>
          </a:p>
          <a:p>
            <a:pPr marL="342900" indent="-342900" algn="l">
              <a:buFont typeface="+mj-lt"/>
              <a:buAutoNum type="arabicPeriod"/>
            </a:pPr>
            <a:r>
              <a:rPr lang="en-MY" dirty="0"/>
              <a:t>Afif </a:t>
            </a:r>
            <a:r>
              <a:rPr lang="en-MY" dirty="0" err="1"/>
              <a:t>Muizzuddin</a:t>
            </a:r>
            <a:endParaRPr lang="en-MY" dirty="0"/>
          </a:p>
          <a:p>
            <a:pPr marL="342900" indent="-342900" algn="l">
              <a:buFont typeface="+mj-lt"/>
              <a:buAutoNum type="arabicPeriod"/>
            </a:pPr>
            <a:r>
              <a:rPr lang="en-MY" dirty="0"/>
              <a:t>Valentino Liaw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689100" y="44450"/>
            <a:ext cx="6662611" cy="37656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574165" algn="ctr">
              <a:lnSpc>
                <a:spcPct val="100000"/>
              </a:lnSpc>
              <a:spcBef>
                <a:spcPts val="95"/>
              </a:spcBef>
            </a:pPr>
            <a:r>
              <a:rPr lang="en-MY" dirty="0"/>
              <a:t>Last </a:t>
            </a:r>
            <a:r>
              <a:rPr dirty="0"/>
              <a:t>Meeting</a:t>
            </a:r>
            <a:r>
              <a:rPr spc="-65" dirty="0"/>
              <a:t> </a:t>
            </a:r>
            <a:r>
              <a:rPr spc="-10" dirty="0"/>
              <a:t>Recap</a:t>
            </a:r>
          </a:p>
        </p:txBody>
      </p:sp>
      <p:sp>
        <p:nvSpPr>
          <p:cNvPr id="20" name="Rectangle 3">
            <a:extLst>
              <a:ext uri="{FF2B5EF4-FFF2-40B4-BE49-F238E27FC236}">
                <a16:creationId xmlns:a16="http://schemas.microsoft.com/office/drawing/2014/main" id="{3715C295-FB6E-3365-0A41-AF3DA38E95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8954" y="292000"/>
            <a:ext cx="9806609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Key Takeaways </a:t>
            </a:r>
            <a:r>
              <a:rPr kumimoji="0" lang="en-US" altLang="en-US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</a:t>
            </a:r>
            <a:r>
              <a:rPr lang="en-US" altLang="en-US" sz="1600" b="1">
                <a:solidFill>
                  <a:schemeClr val="tx1"/>
                </a:solidFill>
                <a:latin typeface="Arial" panose="020B0604020202020204" pitchFamily="34" charset="0"/>
              </a:rPr>
              <a:t> 5 February</a:t>
            </a:r>
            <a:r>
              <a:rPr kumimoji="0" lang="en-US" altLang="en-US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2026):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2E7C23B0-A166-AB7C-A9A5-DFF40C4084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4118" y="675434"/>
            <a:ext cx="7848600" cy="65556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1. Baseline extraction benchmark established: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Full-document extraction (17 pages) using default prompt → ~40 minutes runtime; confirmed JSON output consistency but incomplete table capture on complex pages.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2. Targeted page selection validated: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Extracting only relevant pages (6–8) reduced runtime (~30 minutes total) while maintaining similar extraction quality.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3.Task-specific prompts showed mixed performance: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Capillary-pressure/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rel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-perm prompts improved extraction on relevant pages but failed when keywords were absent or table structure differed.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4. Prompt length significantly impacts accuracy: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Longer, rule-based general prompts improved extraction completeness (especially on low-quality scans), but increased runtime (≈2× longer).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5. Strict context-driven prompts improved structure but risked over-filtering: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Enhanced normalization and column enforcement improved row completeness but sometimes excluded valid data.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6. Table structure strongly affects model behavior: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Clear tabular layouts performed well; blurred scans, handwriting, and irregular formatting reduced extraction accuracy.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7. Runtime remains a critical bottleneck: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3-page runs ≈20 minutes on local GPU; performance likely constrained by image reasoning load — HPC testing required.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8. Model reasoning remains opaque (“black box” effect):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 chain-of-thought visibility; difficult to diagnose why certain prompts succeed or fail.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9. Strategic direction refined: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Shift from generic “extract-all tables” to </a:t>
            </a:r>
            <a:r>
              <a:rPr lang="en-US" altLang="en-US" sz="1200" b="1" dirty="0">
                <a:solidFill>
                  <a:schemeClr val="tx1"/>
                </a:solidFill>
                <a:latin typeface="Arial" panose="020B0604020202020204" pitchFamily="34" charset="0"/>
              </a:rPr>
              <a:t>specific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-use-case-driven extraction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such as: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Extract all porosity values per core sample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Extract capillary pressure curves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Digitize graph data points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Target specific SCAL parameters only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10. Future exploration planned: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Targeted prompt refinement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Accuracy vs runtime benchmarking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Graph digitization experiments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Agentic Document Extraction (ADE) workflows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• HPC deployment testing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F3845-A8B5-3F60-8647-F8F4869CF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2">
            <a:extLst>
              <a:ext uri="{FF2B5EF4-FFF2-40B4-BE49-F238E27FC236}">
                <a16:creationId xmlns:a16="http://schemas.microsoft.com/office/drawing/2014/main" id="{2DD7A62F-03C7-5AA7-BB67-544E9D2FB48F}"/>
              </a:ext>
            </a:extLst>
          </p:cNvPr>
          <p:cNvSpPr txBox="1"/>
          <p:nvPr/>
        </p:nvSpPr>
        <p:spPr>
          <a:xfrm>
            <a:off x="660400" y="2025650"/>
            <a:ext cx="9372600" cy="502920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25000" lnSpcReduction="20000"/>
          </a:bodyPr>
          <a:lstStyle>
            <a:defPPr>
              <a:defRPr kern="0"/>
            </a:defPPr>
          </a:lstStyle>
          <a:p>
            <a:pPr algn="ctr"/>
            <a:r>
              <a:rPr lang="en-US" sz="9600" b="1" u="sng" dirty="0"/>
              <a:t>Work Direction Based on Last Meeting</a:t>
            </a:r>
          </a:p>
          <a:p>
            <a:pPr algn="ctr"/>
            <a:endParaRPr lang="en-US" sz="9600" b="1" u="sng" dirty="0"/>
          </a:p>
          <a:p>
            <a:pPr algn="ctr"/>
            <a:r>
              <a:rPr lang="en-US" sz="5400" dirty="0"/>
              <a:t>Following the direction from the last two weeks of meetings, the current work is structured into three steps:</a:t>
            </a:r>
          </a:p>
          <a:p>
            <a:endParaRPr lang="en-US" sz="5400" dirty="0"/>
          </a:p>
          <a:p>
            <a:endParaRPr lang="en-US" sz="5400" dirty="0"/>
          </a:p>
          <a:p>
            <a:pPr marL="914400" indent="-914400">
              <a:buFont typeface="+mj-lt"/>
              <a:buAutoNum type="arabicPeriod"/>
            </a:pPr>
            <a:r>
              <a:rPr lang="en-US" sz="7200" b="1" u="sng" dirty="0">
                <a:solidFill>
                  <a:srgbClr val="002060"/>
                </a:solidFill>
              </a:rPr>
              <a:t>Prompt Refinement</a:t>
            </a:r>
            <a:br>
              <a:rPr lang="en-US" sz="7200" u="sng" dirty="0">
                <a:solidFill>
                  <a:srgbClr val="002060"/>
                </a:solidFill>
              </a:rPr>
            </a:br>
            <a:r>
              <a:rPr lang="en-US" sz="7200" dirty="0">
                <a:solidFill>
                  <a:srgbClr val="002060"/>
                </a:solidFill>
              </a:rPr>
              <a:t>Using a stable default prompt that is performance efficient in terms of processing speed vs accuracy.</a:t>
            </a:r>
          </a:p>
          <a:p>
            <a:pPr marL="914400" indent="-914400">
              <a:buFont typeface="+mj-lt"/>
              <a:buAutoNum type="arabicPeriod"/>
            </a:pPr>
            <a:endParaRPr lang="en-US" sz="7200" u="sng" dirty="0">
              <a:solidFill>
                <a:srgbClr val="002060"/>
              </a:solidFill>
            </a:endParaRPr>
          </a:p>
          <a:p>
            <a:pPr marL="914400" indent="-914400">
              <a:buFont typeface="+mj-lt"/>
              <a:buAutoNum type="arabicPeriod"/>
            </a:pPr>
            <a:endParaRPr lang="en-US" sz="7200" dirty="0">
              <a:solidFill>
                <a:srgbClr val="002060"/>
              </a:solidFill>
            </a:endParaRPr>
          </a:p>
          <a:p>
            <a:pPr marL="914400" indent="-914400">
              <a:buFont typeface="+mj-lt"/>
              <a:buAutoNum type="arabicPeriod"/>
            </a:pPr>
            <a:r>
              <a:rPr lang="en-US" sz="7200" b="1" u="sng" dirty="0">
                <a:solidFill>
                  <a:srgbClr val="002060"/>
                </a:solidFill>
              </a:rPr>
              <a:t>Extracting pages with Graphs</a:t>
            </a:r>
            <a:br>
              <a:rPr lang="en-US" sz="7200" dirty="0">
                <a:solidFill>
                  <a:srgbClr val="002060"/>
                </a:solidFill>
              </a:rPr>
            </a:br>
            <a:r>
              <a:rPr lang="en-US" sz="7200" dirty="0">
                <a:solidFill>
                  <a:srgbClr val="002060"/>
                </a:solidFill>
              </a:rPr>
              <a:t>Exploring techniques or prompts to extract information from complex graphical figures.</a:t>
            </a:r>
          </a:p>
          <a:p>
            <a:pPr marL="914400" indent="-914400">
              <a:buFont typeface="+mj-lt"/>
              <a:buAutoNum type="arabicPeriod"/>
            </a:pPr>
            <a:endParaRPr lang="en-US" sz="7200" dirty="0">
              <a:solidFill>
                <a:srgbClr val="002060"/>
              </a:solidFill>
            </a:endParaRPr>
          </a:p>
          <a:p>
            <a:pPr marL="914400" indent="-914400">
              <a:buFont typeface="+mj-lt"/>
              <a:buAutoNum type="arabicPeriod"/>
            </a:pPr>
            <a:r>
              <a:rPr lang="en-US" sz="7200" b="1" u="sng" dirty="0">
                <a:solidFill>
                  <a:srgbClr val="002060"/>
                </a:solidFill>
              </a:rPr>
              <a:t>Developing working Agentic Document Extraction (ADE) workflows</a:t>
            </a:r>
          </a:p>
          <a:p>
            <a:pPr lvl="2"/>
            <a:r>
              <a:rPr lang="en-US" sz="7200" dirty="0">
                <a:solidFill>
                  <a:srgbClr val="002060"/>
                </a:solidFill>
              </a:rPr>
              <a:t>	Integrating various tech stacks that works as agents to improve and refine the 	extraction of data from documents. From classifying pages, prompt optimizations, 	anchor prompt builder, OCR+VLM, LLM-Post Processing etc. </a:t>
            </a:r>
          </a:p>
          <a:p>
            <a:pPr marL="914400" indent="-914400">
              <a:buFont typeface="+mj-lt"/>
              <a:buAutoNum type="arabicPeriod"/>
            </a:pPr>
            <a:endParaRPr lang="en-US" sz="7200" dirty="0">
              <a:solidFill>
                <a:srgbClr val="002060"/>
              </a:solidFill>
            </a:endParaRPr>
          </a:p>
          <a:p>
            <a:pPr marL="914400" indent="-914400">
              <a:buFont typeface="+mj-lt"/>
              <a:buAutoNum type="arabicPeriod"/>
            </a:pPr>
            <a:endParaRPr lang="en-US" sz="7200" dirty="0">
              <a:solidFill>
                <a:srgbClr val="002060"/>
              </a:solidFill>
            </a:endParaRPr>
          </a:p>
          <a:p>
            <a:pPr marL="914400" indent="-914400">
              <a:buFont typeface="+mj-lt"/>
              <a:buAutoNum type="arabicPeriod"/>
            </a:pPr>
            <a:r>
              <a:rPr lang="en-US" sz="7200" b="1" u="sng" dirty="0">
                <a:solidFill>
                  <a:srgbClr val="002060"/>
                </a:solidFill>
              </a:rPr>
              <a:t>Specific Use-Case Promptings</a:t>
            </a:r>
            <a:br>
              <a:rPr lang="en-US" sz="7200" dirty="0">
                <a:solidFill>
                  <a:srgbClr val="002060"/>
                </a:solidFill>
              </a:rPr>
            </a:br>
            <a:r>
              <a:rPr lang="en-US" sz="7200" dirty="0">
                <a:solidFill>
                  <a:srgbClr val="002060"/>
                </a:solidFill>
              </a:rPr>
              <a:t>-Use insights from general extraction to design focused, use-case-specific extraction workflows that are more accurate, faster, and easier to validate.</a:t>
            </a:r>
          </a:p>
          <a:p>
            <a:pPr marL="914400" indent="-914400">
              <a:buFont typeface="+mj-lt"/>
              <a:buAutoNum type="arabicPeriod"/>
            </a:pPr>
            <a:endParaRPr lang="en-US" sz="7200" dirty="0">
              <a:solidFill>
                <a:srgbClr val="002060"/>
              </a:solidFill>
            </a:endParaRPr>
          </a:p>
          <a:p>
            <a:r>
              <a:rPr lang="en-US" sz="7200" dirty="0">
                <a:solidFill>
                  <a:srgbClr val="002060"/>
                </a:solidFill>
              </a:rPr>
              <a:t>	-Conduct multiple finetuning process to identify the proper prompts for specific 	use cases</a:t>
            </a:r>
          </a:p>
          <a:p>
            <a:pPr marL="914400" indent="-914400">
              <a:buFont typeface="+mj-lt"/>
              <a:buAutoNum type="arabicPeriod"/>
            </a:pPr>
            <a:endParaRPr lang="en-US" sz="7200" dirty="0"/>
          </a:p>
        </p:txBody>
      </p:sp>
    </p:spTree>
    <p:extLst>
      <p:ext uri="{BB962C8B-B14F-4D97-AF65-F5344CB8AC3E}">
        <p14:creationId xmlns:p14="http://schemas.microsoft.com/office/powerpoint/2010/main" val="225434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F3845-A8B5-3F60-8647-F8F4869CF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2">
            <a:extLst>
              <a:ext uri="{FF2B5EF4-FFF2-40B4-BE49-F238E27FC236}">
                <a16:creationId xmlns:a16="http://schemas.microsoft.com/office/drawing/2014/main" id="{2DD7A62F-03C7-5AA7-BB67-544E9D2FB48F}"/>
              </a:ext>
            </a:extLst>
          </p:cNvPr>
          <p:cNvSpPr txBox="1"/>
          <p:nvPr/>
        </p:nvSpPr>
        <p:spPr>
          <a:xfrm>
            <a:off x="660400" y="1568450"/>
            <a:ext cx="9372600" cy="464820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47500" lnSpcReduction="20000"/>
          </a:bodyPr>
          <a:lstStyle>
            <a:defPPr>
              <a:defRPr kern="0"/>
            </a:defPPr>
          </a:lstStyle>
          <a:p>
            <a:endParaRPr lang="en-US" sz="5400" dirty="0"/>
          </a:p>
          <a:p>
            <a:endParaRPr lang="en-US" sz="5400" dirty="0"/>
          </a:p>
          <a:p>
            <a:pPr marL="914400" indent="-914400">
              <a:buFont typeface="+mj-lt"/>
              <a:buAutoNum type="arabicPeriod"/>
            </a:pPr>
            <a:r>
              <a:rPr lang="en-US" sz="7200" b="1" u="sng" dirty="0">
                <a:solidFill>
                  <a:srgbClr val="002060"/>
                </a:solidFill>
              </a:rPr>
              <a:t>Specific Use-Case Prompting</a:t>
            </a:r>
            <a:br>
              <a:rPr lang="en-US" sz="7200" u="sng" dirty="0">
                <a:solidFill>
                  <a:srgbClr val="002060"/>
                </a:solidFill>
              </a:rPr>
            </a:br>
            <a:r>
              <a:rPr lang="en-US" sz="7200" dirty="0">
                <a:solidFill>
                  <a:srgbClr val="002060"/>
                </a:solidFill>
              </a:rPr>
              <a:t>Conduct multiple finetuning process to identify the proper prompts for specific use cases.</a:t>
            </a:r>
          </a:p>
          <a:p>
            <a:pPr marL="914400" indent="-914400">
              <a:buFont typeface="+mj-lt"/>
              <a:buAutoNum type="arabicPeriod"/>
            </a:pPr>
            <a:endParaRPr lang="en-US" sz="7200" dirty="0">
              <a:solidFill>
                <a:srgbClr val="002060"/>
              </a:solidFill>
            </a:endParaRPr>
          </a:p>
          <a:p>
            <a:pPr marL="914400" indent="-914400">
              <a:buFont typeface="+mj-lt"/>
              <a:buAutoNum type="arabicPeriod"/>
            </a:pPr>
            <a:endParaRPr lang="en-US" sz="7200" dirty="0">
              <a:solidFill>
                <a:srgbClr val="002060"/>
              </a:solidFill>
            </a:endParaRPr>
          </a:p>
          <a:p>
            <a:pPr marL="914400" lvl="3" indent="-914400">
              <a:buFont typeface="Arial" panose="020B0604020202020204" pitchFamily="34" charset="0"/>
              <a:buChar char="•"/>
            </a:pPr>
            <a:r>
              <a:rPr lang="en-US" sz="7200" b="1" dirty="0">
                <a:solidFill>
                  <a:schemeClr val="tx1"/>
                </a:solidFill>
              </a:rPr>
              <a:t>Target Specific SCAL Parameters</a:t>
            </a:r>
          </a:p>
          <a:p>
            <a:pPr marL="914400" lvl="3" indent="-914400">
              <a:buFont typeface="Arial" panose="020B0604020202020204" pitchFamily="34" charset="0"/>
              <a:buChar char="•"/>
            </a:pPr>
            <a:r>
              <a:rPr lang="en-US" sz="7200" b="1" dirty="0">
                <a:solidFill>
                  <a:schemeClr val="tx1"/>
                </a:solidFill>
              </a:rPr>
              <a:t>Graph Digitization</a:t>
            </a:r>
          </a:p>
          <a:p>
            <a:pPr marL="914400" lvl="3" indent="-914400">
              <a:buFont typeface="Arial" panose="020B0604020202020204" pitchFamily="34" charset="0"/>
              <a:buChar char="•"/>
            </a:pPr>
            <a:r>
              <a:rPr lang="en-US" sz="7200" b="1" dirty="0">
                <a:solidFill>
                  <a:schemeClr val="tx1"/>
                </a:solidFill>
              </a:rPr>
              <a:t>Extract Specific column only</a:t>
            </a:r>
          </a:p>
          <a:p>
            <a:pPr marL="914400" lvl="6" indent="-914400">
              <a:buFont typeface="Arial" panose="020B0604020202020204" pitchFamily="34" charset="0"/>
              <a:buChar char="•"/>
            </a:pPr>
            <a:endParaRPr lang="en-US" sz="7200" dirty="0"/>
          </a:p>
          <a:p>
            <a:pPr marL="914400" indent="-914400">
              <a:buFont typeface="+mj-lt"/>
              <a:buAutoNum type="arabicPeriod"/>
            </a:pPr>
            <a:endParaRPr lang="en-US" sz="7200" dirty="0"/>
          </a:p>
        </p:txBody>
      </p:sp>
    </p:spTree>
    <p:extLst>
      <p:ext uri="{BB962C8B-B14F-4D97-AF65-F5344CB8AC3E}">
        <p14:creationId xmlns:p14="http://schemas.microsoft.com/office/powerpoint/2010/main" val="9189893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0A513-BF18-AB81-536D-048647D60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2">
            <a:extLst>
              <a:ext uri="{FF2B5EF4-FFF2-40B4-BE49-F238E27FC236}">
                <a16:creationId xmlns:a16="http://schemas.microsoft.com/office/drawing/2014/main" id="{35CE6887-D323-F151-6999-2770CF7C5B4B}"/>
              </a:ext>
            </a:extLst>
          </p:cNvPr>
          <p:cNvSpPr txBox="1"/>
          <p:nvPr/>
        </p:nvSpPr>
        <p:spPr>
          <a:xfrm>
            <a:off x="1270000" y="1339850"/>
            <a:ext cx="8153400" cy="263113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defPPr>
              <a:defRPr kern="0"/>
            </a:defPPr>
          </a:lstStyle>
          <a:p>
            <a:pPr algn="ctr" rtl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400" b="1" u="sng" dirty="0"/>
              <a:t>Specific Use-Case 1</a:t>
            </a:r>
          </a:p>
          <a:p>
            <a:pPr algn="ctr" rtl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(Target Specific SCAL Parameters)</a:t>
            </a:r>
          </a:p>
        </p:txBody>
      </p:sp>
    </p:spTree>
    <p:extLst>
      <p:ext uri="{BB962C8B-B14F-4D97-AF65-F5344CB8AC3E}">
        <p14:creationId xmlns:p14="http://schemas.microsoft.com/office/powerpoint/2010/main" val="7123782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C409F-A358-361C-FFCC-EED740EE6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F609AD6-BE50-5736-5400-F840C7B315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3636441"/>
              </p:ext>
            </p:extLst>
          </p:nvPr>
        </p:nvGraphicFramePr>
        <p:xfrm>
          <a:off x="584200" y="413134"/>
          <a:ext cx="9525000" cy="6742592"/>
        </p:xfrm>
        <a:graphic>
          <a:graphicData uri="http://schemas.openxmlformats.org/drawingml/2006/table">
            <a:tbl>
              <a:tblPr>
                <a:tableStyleId>{69CF1AB2-1976-4502-BF36-3FF5EA218861}</a:tableStyleId>
              </a:tblPr>
              <a:tblGrid>
                <a:gridCol w="747059">
                  <a:extLst>
                    <a:ext uri="{9D8B030D-6E8A-4147-A177-3AD203B41FA5}">
                      <a16:colId xmlns:a16="http://schemas.microsoft.com/office/drawing/2014/main" val="2984998665"/>
                    </a:ext>
                  </a:extLst>
                </a:gridCol>
                <a:gridCol w="2147795">
                  <a:extLst>
                    <a:ext uri="{9D8B030D-6E8A-4147-A177-3AD203B41FA5}">
                      <a16:colId xmlns:a16="http://schemas.microsoft.com/office/drawing/2014/main" val="2140819980"/>
                    </a:ext>
                  </a:extLst>
                </a:gridCol>
                <a:gridCol w="1067431">
                  <a:extLst>
                    <a:ext uri="{9D8B030D-6E8A-4147-A177-3AD203B41FA5}">
                      <a16:colId xmlns:a16="http://schemas.microsoft.com/office/drawing/2014/main" val="2714219668"/>
                    </a:ext>
                  </a:extLst>
                </a:gridCol>
                <a:gridCol w="956091">
                  <a:extLst>
                    <a:ext uri="{9D8B030D-6E8A-4147-A177-3AD203B41FA5}">
                      <a16:colId xmlns:a16="http://schemas.microsoft.com/office/drawing/2014/main" val="3867418700"/>
                    </a:ext>
                  </a:extLst>
                </a:gridCol>
                <a:gridCol w="1216844">
                  <a:extLst>
                    <a:ext uri="{9D8B030D-6E8A-4147-A177-3AD203B41FA5}">
                      <a16:colId xmlns:a16="http://schemas.microsoft.com/office/drawing/2014/main" val="4255309948"/>
                    </a:ext>
                  </a:extLst>
                </a:gridCol>
                <a:gridCol w="3389780">
                  <a:extLst>
                    <a:ext uri="{9D8B030D-6E8A-4147-A177-3AD203B41FA5}">
                      <a16:colId xmlns:a16="http://schemas.microsoft.com/office/drawing/2014/main" val="1424195402"/>
                    </a:ext>
                  </a:extLst>
                </a:gridCol>
              </a:tblGrid>
              <a:tr h="5440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b="1"/>
                        <a:t>Exp ID</a:t>
                      </a:r>
                      <a:endParaRPr lang="en-MY" sz="1200"/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b="1"/>
                        <a:t>Prompt Strategy</a:t>
                      </a:r>
                      <a:endParaRPr lang="en-MY" sz="1200"/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b="1"/>
                        <a:t>Page Selection Strategy</a:t>
                      </a:r>
                      <a:endParaRPr lang="en-MY" sz="1200"/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b="1"/>
                        <a:t>What Is Varied</a:t>
                      </a:r>
                      <a:endParaRPr lang="en-MY" sz="1200"/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b="1"/>
                        <a:t>Primary Objective</a:t>
                      </a:r>
                      <a:endParaRPr lang="en-MY" sz="1200"/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b="1" dirty="0"/>
                        <a:t>Exp Outcome</a:t>
                      </a:r>
                      <a:endParaRPr lang="en-MY" sz="1200" dirty="0"/>
                    </a:p>
                  </a:txBody>
                  <a:tcPr marL="23359" marR="23359" marT="11679" marB="11679" anchor="ctr"/>
                </a:tc>
                <a:extLst>
                  <a:ext uri="{0D108BD9-81ED-4DB2-BD59-A6C34878D82A}">
                    <a16:rowId xmlns:a16="http://schemas.microsoft.com/office/drawing/2014/main" val="1229567079"/>
                  </a:ext>
                </a:extLst>
              </a:tr>
              <a:tr h="67037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Exp 1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Default generic prompt + specify Table title specify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All pages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Prompt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Target Specific Table</a:t>
                      </a:r>
                      <a:endParaRPr lang="en-MY" sz="1200" dirty="0"/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• Total rows: 65</a:t>
                      </a:r>
                    </a:p>
                    <a:p>
                      <a:pPr>
                        <a:buNone/>
                      </a:pPr>
                      <a:r>
                        <a:rPr lang="en-US" sz="1200" dirty="0"/>
                        <a:t>• Duration: 8954.7s / 149.245minutes</a:t>
                      </a:r>
                    </a:p>
                    <a:p>
                      <a:pPr>
                        <a:buNone/>
                      </a:pPr>
                      <a:r>
                        <a:rPr lang="en-US" sz="1200" dirty="0"/>
                        <a:t>The exp is able to extract table but all data table was extracted. </a:t>
                      </a:r>
                    </a:p>
                  </a:txBody>
                  <a:tcPr marL="23359" marR="23359" marT="11679" marB="11679" anchor="ctr"/>
                </a:tc>
                <a:extLst>
                  <a:ext uri="{0D108BD9-81ED-4DB2-BD59-A6C34878D82A}">
                    <a16:rowId xmlns:a16="http://schemas.microsoft.com/office/drawing/2014/main" val="1043423827"/>
                  </a:ext>
                </a:extLst>
              </a:tr>
              <a:tr h="5440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Exp 2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Default generic prompt + specify Table title specify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Manually selected pages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Pages Selection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Target Specific Table and</a:t>
                      </a:r>
                      <a:endParaRPr lang="en-MY" sz="1200" dirty="0"/>
                    </a:p>
                    <a:p>
                      <a:pPr>
                        <a:buNone/>
                      </a:pPr>
                      <a:r>
                        <a:rPr lang="en-MY" sz="1200" dirty="0"/>
                        <a:t>Reduce runtime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• Total rows: 24</a:t>
                      </a:r>
                    </a:p>
                    <a:p>
                      <a:pPr>
                        <a:buNone/>
                      </a:pPr>
                      <a:r>
                        <a:rPr lang="en-US" sz="1200" dirty="0"/>
                        <a:t>• Duration:  3740.5s / 62.34minutes</a:t>
                      </a:r>
                    </a:p>
                    <a:p>
                      <a:pPr>
                        <a:buNone/>
                      </a:pPr>
                      <a:r>
                        <a:rPr lang="en-US" sz="1200" dirty="0"/>
                        <a:t>The exp is able to extract table but all data table was extracted. Same result as experiment 1</a:t>
                      </a:r>
                    </a:p>
                  </a:txBody>
                  <a:tcPr marL="23359" marR="23359" marT="11679" marB="11679" anchor="ctr"/>
                </a:tc>
                <a:extLst>
                  <a:ext uri="{0D108BD9-81ED-4DB2-BD59-A6C34878D82A}">
                    <a16:rowId xmlns:a16="http://schemas.microsoft.com/office/drawing/2014/main" val="173586183"/>
                  </a:ext>
                </a:extLst>
              </a:tr>
              <a:tr h="7967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Exp 3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U</a:t>
                      </a:r>
                      <a:r>
                        <a:rPr lang="en-MY" sz="1200" dirty="0" err="1"/>
                        <a:t>pdated</a:t>
                      </a:r>
                      <a:r>
                        <a:rPr lang="en-MY" sz="1200" dirty="0"/>
                        <a:t> prompt for Table Extraction for using keyword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All pages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Updated Prompt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Target Specific Table</a:t>
                      </a:r>
                      <a:endParaRPr lang="en-MY" sz="1200" dirty="0"/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• Total rows: Unable to capture due to remote connection lost</a:t>
                      </a:r>
                    </a:p>
                    <a:p>
                      <a:pPr>
                        <a:buNone/>
                      </a:pPr>
                      <a:r>
                        <a:rPr lang="en-US" sz="1200" dirty="0"/>
                        <a:t>• Duration:  Unable to capture due to remote connection lost</a:t>
                      </a:r>
                    </a:p>
                    <a:p>
                      <a:pPr>
                        <a:buNone/>
                      </a:pPr>
                      <a:r>
                        <a:rPr lang="en-US" sz="1200" dirty="0"/>
                        <a:t>The exp is able to extract the required table with the required information. However certain output format can be improved especially with regards to brine saturation data. </a:t>
                      </a:r>
                    </a:p>
                  </a:txBody>
                  <a:tcPr marL="23359" marR="23359" marT="11679" marB="11679" anchor="ctr"/>
                </a:tc>
                <a:extLst>
                  <a:ext uri="{0D108BD9-81ED-4DB2-BD59-A6C34878D82A}">
                    <a16:rowId xmlns:a16="http://schemas.microsoft.com/office/drawing/2014/main" val="2622653985"/>
                  </a:ext>
                </a:extLst>
              </a:tr>
              <a:tr h="5440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Exp 4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U</a:t>
                      </a:r>
                      <a:r>
                        <a:rPr lang="en-MY" sz="1200" dirty="0" err="1"/>
                        <a:t>pdated</a:t>
                      </a:r>
                      <a:r>
                        <a:rPr lang="en-MY" sz="1200" dirty="0"/>
                        <a:t> prompt for Table Extraction for using keyword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All pages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New pdf file</a:t>
                      </a:r>
                    </a:p>
                    <a:p>
                      <a:pPr>
                        <a:buNone/>
                      </a:pPr>
                      <a:r>
                        <a:rPr lang="en-MY" sz="1200" dirty="0"/>
                        <a:t>(</a:t>
                      </a:r>
                      <a:r>
                        <a:rPr lang="en-MY" sz="1200" dirty="0" err="1"/>
                        <a:t>Duyong</a:t>
                      </a:r>
                      <a:r>
                        <a:rPr lang="en-MY" sz="1200" dirty="0"/>
                        <a:t> Deep-1) 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Target Specific Table</a:t>
                      </a:r>
                      <a:endParaRPr lang="en-MY" sz="1200" dirty="0"/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• Total rows: 47</a:t>
                      </a:r>
                    </a:p>
                    <a:p>
                      <a:pPr>
                        <a:buNone/>
                      </a:pPr>
                      <a:r>
                        <a:rPr lang="en-US" sz="1200" dirty="0"/>
                        <a:t>• Duration:  11073.0s / 184.55m</a:t>
                      </a:r>
                    </a:p>
                    <a:p>
                      <a:pPr>
                        <a:buNone/>
                      </a:pPr>
                      <a:r>
                        <a:rPr lang="en-US" sz="1200" dirty="0"/>
                        <a:t>The exp is able to extract the required table with the required information (</a:t>
                      </a:r>
                      <a:r>
                        <a:rPr lang="en-US" sz="1200" dirty="0" err="1"/>
                        <a:t>keyword:PSI</a:t>
                      </a:r>
                      <a:r>
                        <a:rPr lang="en-US" sz="1200" dirty="0"/>
                        <a:t>). </a:t>
                      </a:r>
                    </a:p>
                  </a:txBody>
                  <a:tcPr marL="23359" marR="23359" marT="11679" marB="11679" anchor="ctr"/>
                </a:tc>
                <a:extLst>
                  <a:ext uri="{0D108BD9-81ED-4DB2-BD59-A6C34878D82A}">
                    <a16:rowId xmlns:a16="http://schemas.microsoft.com/office/drawing/2014/main" val="1766620499"/>
                  </a:ext>
                </a:extLst>
              </a:tr>
              <a:tr h="5440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Exp 5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U</a:t>
                      </a:r>
                      <a:r>
                        <a:rPr lang="en-MY" sz="1200" dirty="0" err="1"/>
                        <a:t>pdated</a:t>
                      </a:r>
                      <a:r>
                        <a:rPr lang="en-MY" sz="1200" dirty="0"/>
                        <a:t> prompt for Table Extraction for using keyword</a:t>
                      </a:r>
                    </a:p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❌wrong prompt</a:t>
                      </a:r>
                      <a:endParaRPr lang="en-MY" sz="1200" dirty="0"/>
                    </a:p>
                    <a:p>
                      <a:pPr>
                        <a:buNone/>
                      </a:pPr>
                      <a:endParaRPr lang="en-MY" sz="1200" dirty="0"/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Same pages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New pdf file</a:t>
                      </a:r>
                    </a:p>
                    <a:p>
                      <a:pPr>
                        <a:buNone/>
                      </a:pPr>
                      <a:r>
                        <a:rPr lang="en-MY" sz="1200" dirty="0"/>
                        <a:t>(Pegaga-2 </a:t>
                      </a:r>
                      <a:r>
                        <a:rPr lang="en-MY" sz="1200" dirty="0" err="1"/>
                        <a:t>RealPerm</a:t>
                      </a:r>
                      <a:r>
                        <a:rPr lang="en-MY" sz="1200" dirty="0"/>
                        <a:t>) 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Target Specific Table</a:t>
                      </a:r>
                      <a:endParaRPr kumimoji="0" lang="en-MY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200" dirty="0"/>
                        <a:t>•Total rows: 49</a:t>
                      </a:r>
                    </a:p>
                    <a:p>
                      <a:pPr>
                        <a:buNone/>
                      </a:pPr>
                      <a:r>
                        <a:rPr lang="en-US" sz="1200" dirty="0"/>
                        <a:t>• Duration:  7996.6s / 133.2767m</a:t>
                      </a:r>
                    </a:p>
                    <a:p>
                      <a:pPr>
                        <a:buNone/>
                      </a:pPr>
                      <a:r>
                        <a:rPr lang="en-US" sz="1200" dirty="0"/>
                        <a:t>The exp only manage to capture table in page 16.</a:t>
                      </a:r>
                    </a:p>
                    <a:p>
                      <a:pPr>
                        <a:buNone/>
                      </a:pPr>
                      <a:r>
                        <a:rPr lang="en-US" sz="1200" dirty="0"/>
                        <a:t>The extracted value format using scientific notation is also not constant. </a:t>
                      </a:r>
                    </a:p>
                  </a:txBody>
                  <a:tcPr marL="23359" marR="23359" marT="11679" marB="11679" anchor="ctr"/>
                </a:tc>
                <a:extLst>
                  <a:ext uri="{0D108BD9-81ED-4DB2-BD59-A6C34878D82A}">
                    <a16:rowId xmlns:a16="http://schemas.microsoft.com/office/drawing/2014/main" val="345473006"/>
                  </a:ext>
                </a:extLst>
              </a:tr>
              <a:tr h="4177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Exp 6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U</a:t>
                      </a:r>
                      <a:r>
                        <a:rPr lang="en-MY" sz="1200" dirty="0" err="1"/>
                        <a:t>pdated</a:t>
                      </a:r>
                      <a:r>
                        <a:rPr lang="en-MY" sz="1200" dirty="0"/>
                        <a:t> prompt for Table Extraction for using keyword</a:t>
                      </a:r>
                    </a:p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❌wrong prompt</a:t>
                      </a:r>
                      <a:endParaRPr lang="en-MY" sz="1200" dirty="0"/>
                    </a:p>
                    <a:p>
                      <a:pPr>
                        <a:buNone/>
                      </a:pPr>
                      <a:endParaRPr lang="en-MY" sz="1200" dirty="0"/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Same pages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New pdf file</a:t>
                      </a:r>
                    </a:p>
                    <a:p>
                      <a:pPr>
                        <a:buNone/>
                      </a:pPr>
                      <a:r>
                        <a:rPr lang="en-MY" sz="1200" dirty="0"/>
                        <a:t>(Pegaga-2 </a:t>
                      </a:r>
                      <a:r>
                        <a:rPr lang="en-MY" sz="1200" dirty="0" err="1"/>
                        <a:t>RealPerm</a:t>
                      </a:r>
                      <a:r>
                        <a:rPr lang="en-MY" sz="1200" dirty="0"/>
                        <a:t>) 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Target Specific Table</a:t>
                      </a:r>
                      <a:endParaRPr kumimoji="0" lang="en-MY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•Total rows: 15</a:t>
                      </a:r>
                    </a:p>
                    <a:p>
                      <a:pPr>
                        <a:buNone/>
                      </a:pPr>
                      <a:r>
                        <a:rPr lang="en-US" sz="1200" dirty="0"/>
                        <a:t>• Duration:  4070.0s / 67.83m</a:t>
                      </a:r>
                    </a:p>
                    <a:p>
                      <a:pPr>
                        <a:buNone/>
                      </a:pPr>
                      <a:r>
                        <a:rPr lang="en-US" sz="1200" dirty="0"/>
                        <a:t>Unable to extract data table using keyword “</a:t>
                      </a:r>
                      <a:r>
                        <a:rPr lang="en-US" sz="1200" dirty="0" err="1"/>
                        <a:t>krw</a:t>
                      </a:r>
                      <a:r>
                        <a:rPr lang="en-US" sz="1200" dirty="0"/>
                        <a:t>”</a:t>
                      </a:r>
                    </a:p>
                  </a:txBody>
                  <a:tcPr marL="23359" marR="23359" marT="11679" marB="11679" anchor="ctr"/>
                </a:tc>
                <a:extLst>
                  <a:ext uri="{0D108BD9-81ED-4DB2-BD59-A6C34878D82A}">
                    <a16:rowId xmlns:a16="http://schemas.microsoft.com/office/drawing/2014/main" val="1909763709"/>
                  </a:ext>
                </a:extLst>
              </a:tr>
              <a:tr h="5440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Exp 7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U</a:t>
                      </a:r>
                      <a:r>
                        <a:rPr lang="en-MY" sz="1200" dirty="0" err="1"/>
                        <a:t>pdated</a:t>
                      </a:r>
                      <a:r>
                        <a:rPr lang="en-MY" sz="1200" dirty="0"/>
                        <a:t> prompt for Table Extraction for using keyword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/>
                        <a:t>All pages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New pdf file</a:t>
                      </a:r>
                    </a:p>
                    <a:p>
                      <a:pPr>
                        <a:buNone/>
                      </a:pPr>
                      <a:r>
                        <a:rPr lang="en-MY" sz="1200" dirty="0"/>
                        <a:t>(Pegaga-2 </a:t>
                      </a:r>
                      <a:r>
                        <a:rPr lang="en-MY" sz="1200" dirty="0" err="1"/>
                        <a:t>RealPerm</a:t>
                      </a:r>
                      <a:r>
                        <a:rPr lang="en-MY" sz="1200" dirty="0"/>
                        <a:t>) 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Target Specific Table</a:t>
                      </a:r>
                      <a:endParaRPr kumimoji="0" lang="en-MY" sz="12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• Total rows: 26</a:t>
                      </a:r>
                    </a:p>
                    <a:p>
                      <a:pPr>
                        <a:buNone/>
                      </a:pPr>
                      <a:r>
                        <a:rPr lang="en-US" sz="1200" dirty="0"/>
                        <a:t>• Duration:  8710.5s / 145.175m</a:t>
                      </a:r>
                    </a:p>
                    <a:p>
                      <a:pPr>
                        <a:buNone/>
                      </a:pPr>
                      <a:r>
                        <a:rPr lang="en-US" sz="1200" dirty="0"/>
                        <a:t>Able to extract all table with keyword “</a:t>
                      </a:r>
                      <a:r>
                        <a:rPr lang="en-US" sz="1200" dirty="0" err="1"/>
                        <a:t>krw</a:t>
                      </a:r>
                      <a:r>
                        <a:rPr lang="en-US" sz="1200" dirty="0"/>
                        <a:t>” but missing the last page tables</a:t>
                      </a:r>
                    </a:p>
                  </a:txBody>
                  <a:tcPr marL="23359" marR="23359" marT="11679" marB="11679" anchor="ctr"/>
                </a:tc>
                <a:extLst>
                  <a:ext uri="{0D108BD9-81ED-4DB2-BD59-A6C34878D82A}">
                    <a16:rowId xmlns:a16="http://schemas.microsoft.com/office/drawing/2014/main" val="339268955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6611BEE-6CCD-E3F6-D50B-80B59210E7B9}"/>
              </a:ext>
            </a:extLst>
          </p:cNvPr>
          <p:cNvSpPr txBox="1"/>
          <p:nvPr/>
        </p:nvSpPr>
        <p:spPr>
          <a:xfrm>
            <a:off x="3136900" y="13348"/>
            <a:ext cx="4800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MY" dirty="0"/>
              <a:t>Experiment Summary Table</a:t>
            </a:r>
          </a:p>
        </p:txBody>
      </p:sp>
    </p:spTree>
    <p:extLst>
      <p:ext uri="{BB962C8B-B14F-4D97-AF65-F5344CB8AC3E}">
        <p14:creationId xmlns:p14="http://schemas.microsoft.com/office/powerpoint/2010/main" val="38240251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4F20E-900A-9662-637F-A42B4D339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A42633A-DFD2-C576-4928-45BC3B4BEA37}"/>
              </a:ext>
            </a:extLst>
          </p:cNvPr>
          <p:cNvSpPr txBox="1"/>
          <p:nvPr/>
        </p:nvSpPr>
        <p:spPr>
          <a:xfrm>
            <a:off x="3746500" y="349250"/>
            <a:ext cx="4343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dirty="0"/>
              <a:t>Experiment Outcome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F1CBB4-6AAB-5847-F2D4-2A17BB555A4D}"/>
              </a:ext>
            </a:extLst>
          </p:cNvPr>
          <p:cNvSpPr txBox="1"/>
          <p:nvPr/>
        </p:nvSpPr>
        <p:spPr>
          <a:xfrm>
            <a:off x="927100" y="1035050"/>
            <a:ext cx="88392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/>
            <a:r>
              <a:rPr lang="en-US" dirty="0"/>
              <a:t>Based on Use-Case 1 Purpose, the extraction of certain table within a pdf file that contains multiple tables, a specific Use-Case Prompt has been identified that is able to extract a table based on a “keyword”.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B21C5BC-F7E5-A958-D4C8-E977A08EF4DA}"/>
              </a:ext>
            </a:extLst>
          </p:cNvPr>
          <p:cNvSpPr txBox="1"/>
          <p:nvPr/>
        </p:nvSpPr>
        <p:spPr>
          <a:xfrm>
            <a:off x="1689100" y="255905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T</a:t>
            </a:r>
            <a:r>
              <a:rPr lang="en-MY" b="1" dirty="0" err="1"/>
              <a:t>arget</a:t>
            </a:r>
            <a:r>
              <a:rPr lang="en-MY" b="1" dirty="0"/>
              <a:t> table Specific SCAL Parameters prompts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7B9E5E-7FBA-0812-0A7C-1F7F0CE21797}"/>
              </a:ext>
            </a:extLst>
          </p:cNvPr>
          <p:cNvSpPr txBox="1"/>
          <p:nvPr/>
        </p:nvSpPr>
        <p:spPr>
          <a:xfrm>
            <a:off x="1725127" y="2974836"/>
            <a:ext cx="534644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/>
            <a:r>
              <a:rPr lang="en-US" dirty="0"/>
              <a:t>I need you to extract a specific table from this PDF document. The document contains multiple tables, but I'm only interested in the table that contains the keyword "[</a:t>
            </a:r>
            <a:r>
              <a:rPr lang="en-US" b="1" dirty="0"/>
              <a:t>keyword</a:t>
            </a:r>
            <a:r>
              <a:rPr lang="en-US" dirty="0"/>
              <a:t>]".</a:t>
            </a:r>
          </a:p>
          <a:p>
            <a:pPr lvl="2"/>
            <a:endParaRPr lang="en-US" dirty="0"/>
          </a:p>
          <a:p>
            <a:pPr lvl="2"/>
            <a:r>
              <a:rPr lang="en-US" dirty="0"/>
              <a:t>Please follow these steps:</a:t>
            </a:r>
          </a:p>
          <a:p>
            <a:pPr lvl="2"/>
            <a:r>
              <a:rPr lang="en-US" dirty="0"/>
              <a:t>1. Scan through all tables in the document</a:t>
            </a:r>
          </a:p>
          <a:p>
            <a:pPr lvl="2"/>
            <a:r>
              <a:rPr lang="en-US" dirty="0"/>
              <a:t>2. Identify the table that contains the keyword "[</a:t>
            </a:r>
            <a:r>
              <a:rPr lang="en-US" b="1" dirty="0"/>
              <a:t>keyword</a:t>
            </a:r>
            <a:r>
              <a:rPr lang="en-US" dirty="0"/>
              <a:t>]"</a:t>
            </a:r>
          </a:p>
          <a:p>
            <a:pPr lvl="2"/>
            <a:r>
              <a:rPr lang="en-US" dirty="0"/>
              <a:t>3. Extract the complete table including all headers, rows, and columns</a:t>
            </a:r>
          </a:p>
          <a:p>
            <a:pPr lvl="2"/>
            <a:r>
              <a:rPr lang="en-US" dirty="0"/>
              <a:t>4. If table present, extract ALL rows in exact order with exact column names as JSON array</a:t>
            </a:r>
          </a:p>
          <a:p>
            <a:pPr lvl="2"/>
            <a:r>
              <a:rPr lang="en-US" dirty="0"/>
              <a:t>5. Extract data ONLY if table present. If no table: {"</a:t>
            </a:r>
            <a:r>
              <a:rPr lang="en-US" dirty="0" err="1"/>
              <a:t>no_table</a:t>
            </a:r>
            <a:r>
              <a:rPr lang="en-US" dirty="0"/>
              <a:t>": true}</a:t>
            </a:r>
          </a:p>
        </p:txBody>
      </p:sp>
    </p:spTree>
    <p:extLst>
      <p:ext uri="{BB962C8B-B14F-4D97-AF65-F5344CB8AC3E}">
        <p14:creationId xmlns:p14="http://schemas.microsoft.com/office/powerpoint/2010/main" val="42095356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6E170-D330-844A-313D-4D51D94BE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2">
            <a:extLst>
              <a:ext uri="{FF2B5EF4-FFF2-40B4-BE49-F238E27FC236}">
                <a16:creationId xmlns:a16="http://schemas.microsoft.com/office/drawing/2014/main" id="{8EA16292-340D-2E32-AD68-7F608B61D9ED}"/>
              </a:ext>
            </a:extLst>
          </p:cNvPr>
          <p:cNvSpPr txBox="1"/>
          <p:nvPr/>
        </p:nvSpPr>
        <p:spPr>
          <a:xfrm>
            <a:off x="1270000" y="1339850"/>
            <a:ext cx="8153400" cy="263113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defPPr>
              <a:defRPr kern="0"/>
            </a:defPPr>
          </a:lstStyle>
          <a:p>
            <a:pPr algn="ctr" rtl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400" b="1" u="sng" dirty="0"/>
              <a:t>Specific Use-Case 2</a:t>
            </a:r>
          </a:p>
          <a:p>
            <a:pPr algn="ctr" rtl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(Graph Digitization)</a:t>
            </a:r>
          </a:p>
        </p:txBody>
      </p:sp>
    </p:spTree>
    <p:extLst>
      <p:ext uri="{BB962C8B-B14F-4D97-AF65-F5344CB8AC3E}">
        <p14:creationId xmlns:p14="http://schemas.microsoft.com/office/powerpoint/2010/main" val="19518923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620AA-B609-CB90-D087-60EB94FB98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A41D15E-5D27-D3D9-7AEC-9378D2E1B28A}"/>
              </a:ext>
            </a:extLst>
          </p:cNvPr>
          <p:cNvSpPr txBox="1"/>
          <p:nvPr/>
        </p:nvSpPr>
        <p:spPr>
          <a:xfrm>
            <a:off x="3517900" y="349250"/>
            <a:ext cx="4343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dirty="0"/>
              <a:t>Version Limitation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F5EB43-4185-FE8B-91A2-B7F35B7D41D5}"/>
              </a:ext>
            </a:extLst>
          </p:cNvPr>
          <p:cNvSpPr txBox="1"/>
          <p:nvPr/>
        </p:nvSpPr>
        <p:spPr>
          <a:xfrm>
            <a:off x="927100" y="1035050"/>
            <a:ext cx="8839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/>
            <a:r>
              <a:rPr lang="en-US" sz="1800" dirty="0"/>
              <a:t>❌	</a:t>
            </a:r>
            <a:r>
              <a:rPr lang="en-US" dirty="0"/>
              <a:t>Unfortunately, due to model and version limitation, the current program is unable to tabulate data based on given graph. </a:t>
            </a:r>
          </a:p>
          <a:p>
            <a:pPr lvl="2"/>
            <a:endParaRPr lang="en-US" dirty="0"/>
          </a:p>
          <a:p>
            <a:pPr lvl="2"/>
            <a:r>
              <a:rPr lang="en-US" dirty="0"/>
              <a:t>The current version is missing a certain modules on extracting tabulation data from graph. </a:t>
            </a:r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54907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DF761-97AF-73B7-B9E5-15367CC43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2">
            <a:extLst>
              <a:ext uri="{FF2B5EF4-FFF2-40B4-BE49-F238E27FC236}">
                <a16:creationId xmlns:a16="http://schemas.microsoft.com/office/drawing/2014/main" id="{A5F146E6-D631-E21B-B15C-514A284D4E0C}"/>
              </a:ext>
            </a:extLst>
          </p:cNvPr>
          <p:cNvSpPr txBox="1"/>
          <p:nvPr/>
        </p:nvSpPr>
        <p:spPr>
          <a:xfrm>
            <a:off x="1270000" y="1339850"/>
            <a:ext cx="8153400" cy="263113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defPPr>
              <a:defRPr kern="0"/>
            </a:defPPr>
          </a:lstStyle>
          <a:p>
            <a:pPr algn="ctr" rtl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400" b="1" u="sng" dirty="0"/>
              <a:t>Specific Use-Case 3</a:t>
            </a:r>
          </a:p>
          <a:p>
            <a:pPr algn="ctr" rtl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(Extract Specific column only)</a:t>
            </a:r>
          </a:p>
        </p:txBody>
      </p:sp>
    </p:spTree>
    <p:extLst>
      <p:ext uri="{BB962C8B-B14F-4D97-AF65-F5344CB8AC3E}">
        <p14:creationId xmlns:p14="http://schemas.microsoft.com/office/powerpoint/2010/main" val="4059506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76DFAF-8B28-6A70-836E-B48985E54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EAB04CD-FEFA-E1A6-5048-7527F8AAEE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2811094"/>
              </p:ext>
            </p:extLst>
          </p:nvPr>
        </p:nvGraphicFramePr>
        <p:xfrm>
          <a:off x="698500" y="1195122"/>
          <a:ext cx="9525000" cy="2583128"/>
        </p:xfrm>
        <a:graphic>
          <a:graphicData uri="http://schemas.openxmlformats.org/drawingml/2006/table">
            <a:tbl>
              <a:tblPr>
                <a:tableStyleId>{69CF1AB2-1976-4502-BF36-3FF5EA218861}</a:tableStyleId>
              </a:tblPr>
              <a:tblGrid>
                <a:gridCol w="747059">
                  <a:extLst>
                    <a:ext uri="{9D8B030D-6E8A-4147-A177-3AD203B41FA5}">
                      <a16:colId xmlns:a16="http://schemas.microsoft.com/office/drawing/2014/main" val="2984998665"/>
                    </a:ext>
                  </a:extLst>
                </a:gridCol>
                <a:gridCol w="2147795">
                  <a:extLst>
                    <a:ext uri="{9D8B030D-6E8A-4147-A177-3AD203B41FA5}">
                      <a16:colId xmlns:a16="http://schemas.microsoft.com/office/drawing/2014/main" val="2140819980"/>
                    </a:ext>
                  </a:extLst>
                </a:gridCol>
                <a:gridCol w="1067431">
                  <a:extLst>
                    <a:ext uri="{9D8B030D-6E8A-4147-A177-3AD203B41FA5}">
                      <a16:colId xmlns:a16="http://schemas.microsoft.com/office/drawing/2014/main" val="2714219668"/>
                    </a:ext>
                  </a:extLst>
                </a:gridCol>
                <a:gridCol w="956091">
                  <a:extLst>
                    <a:ext uri="{9D8B030D-6E8A-4147-A177-3AD203B41FA5}">
                      <a16:colId xmlns:a16="http://schemas.microsoft.com/office/drawing/2014/main" val="3867418700"/>
                    </a:ext>
                  </a:extLst>
                </a:gridCol>
                <a:gridCol w="1216844">
                  <a:extLst>
                    <a:ext uri="{9D8B030D-6E8A-4147-A177-3AD203B41FA5}">
                      <a16:colId xmlns:a16="http://schemas.microsoft.com/office/drawing/2014/main" val="4255309948"/>
                    </a:ext>
                  </a:extLst>
                </a:gridCol>
                <a:gridCol w="3389780">
                  <a:extLst>
                    <a:ext uri="{9D8B030D-6E8A-4147-A177-3AD203B41FA5}">
                      <a16:colId xmlns:a16="http://schemas.microsoft.com/office/drawing/2014/main" val="1424195402"/>
                    </a:ext>
                  </a:extLst>
                </a:gridCol>
              </a:tblGrid>
              <a:tr h="5440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b="1"/>
                        <a:t>Exp ID</a:t>
                      </a:r>
                      <a:endParaRPr lang="en-MY" sz="1200"/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b="1"/>
                        <a:t>Prompt Strategy</a:t>
                      </a:r>
                      <a:endParaRPr lang="en-MY" sz="1200"/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b="1"/>
                        <a:t>Page Selection Strategy</a:t>
                      </a:r>
                      <a:endParaRPr lang="en-MY" sz="1200"/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b="1" dirty="0"/>
                        <a:t>Documents</a:t>
                      </a:r>
                      <a:endParaRPr lang="en-MY" sz="1200" dirty="0"/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b="1"/>
                        <a:t>Primary Objective</a:t>
                      </a:r>
                      <a:endParaRPr lang="en-MY" sz="1200"/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b="1" dirty="0"/>
                        <a:t>Exp Outcome</a:t>
                      </a:r>
                      <a:endParaRPr lang="en-MY" sz="1200" dirty="0"/>
                    </a:p>
                  </a:txBody>
                  <a:tcPr marL="23359" marR="23359" marT="11679" marB="11679" anchor="ctr"/>
                </a:tc>
                <a:extLst>
                  <a:ext uri="{0D108BD9-81ED-4DB2-BD59-A6C34878D82A}">
                    <a16:rowId xmlns:a16="http://schemas.microsoft.com/office/drawing/2014/main" val="1229567079"/>
                  </a:ext>
                </a:extLst>
              </a:tr>
              <a:tr h="67037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Exp 1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Simple prompt to extract Sample ID and Core Sample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All Pages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Pegaga-2 </a:t>
                      </a:r>
                      <a:r>
                        <a:rPr lang="en-MY" sz="1200" dirty="0" err="1"/>
                        <a:t>RealPerm</a:t>
                      </a:r>
                      <a:endParaRPr lang="en-MY" sz="1200" dirty="0"/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Target Specific column only</a:t>
                      </a:r>
                      <a:endParaRPr lang="en-MY" sz="1200" dirty="0"/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•Total rows: 0</a:t>
                      </a:r>
                    </a:p>
                    <a:p>
                      <a:pPr>
                        <a:buNone/>
                      </a:pPr>
                      <a:r>
                        <a:rPr lang="en-US" sz="1200" dirty="0"/>
                        <a:t>• Duration:  n/a</a:t>
                      </a:r>
                    </a:p>
                    <a:p>
                      <a:pPr>
                        <a:buNone/>
                      </a:pPr>
                      <a:r>
                        <a:rPr lang="en-US" sz="1200" dirty="0"/>
                        <a:t>Failed to extract any data</a:t>
                      </a:r>
                    </a:p>
                  </a:txBody>
                  <a:tcPr marL="23359" marR="23359" marT="11679" marB="11679" anchor="ctr"/>
                </a:tc>
                <a:extLst>
                  <a:ext uri="{0D108BD9-81ED-4DB2-BD59-A6C34878D82A}">
                    <a16:rowId xmlns:a16="http://schemas.microsoft.com/office/drawing/2014/main" val="1043423827"/>
                  </a:ext>
                </a:extLst>
              </a:tr>
              <a:tr h="5440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Exp 2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Updated Specific Prompt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/>
                        <a:t>Manually selected pages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200" dirty="0" err="1"/>
                        <a:t>Duyong</a:t>
                      </a:r>
                      <a:r>
                        <a:rPr lang="en-MY" sz="1200" dirty="0"/>
                        <a:t> Deep-1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Target Specific column only</a:t>
                      </a:r>
                      <a:endParaRPr lang="en-MY" sz="1200" dirty="0"/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• Total rows: 0</a:t>
                      </a:r>
                    </a:p>
                    <a:p>
                      <a:pPr>
                        <a:buNone/>
                      </a:pPr>
                      <a:r>
                        <a:rPr lang="en-US" sz="1200" dirty="0"/>
                        <a:t>• Duration:  n/a</a:t>
                      </a:r>
                    </a:p>
                    <a:p>
                      <a:pPr>
                        <a:buNone/>
                      </a:pPr>
                      <a:r>
                        <a:rPr lang="en-US" sz="1200" dirty="0"/>
                        <a:t>Failed to extract any data</a:t>
                      </a:r>
                    </a:p>
                  </a:txBody>
                  <a:tcPr marL="23359" marR="23359" marT="11679" marB="11679" anchor="ctr"/>
                </a:tc>
                <a:extLst>
                  <a:ext uri="{0D108BD9-81ED-4DB2-BD59-A6C34878D82A}">
                    <a16:rowId xmlns:a16="http://schemas.microsoft.com/office/drawing/2014/main" val="173586183"/>
                  </a:ext>
                </a:extLst>
              </a:tr>
              <a:tr h="7967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Exp 3</a:t>
                      </a:r>
                      <a:endParaRPr lang="en-MY" sz="1200" dirty="0"/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dirty="0"/>
                        <a:t>Updated Specific Prompt</a:t>
                      </a:r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dirty="0"/>
                        <a:t>Manually selected pages</a:t>
                      </a:r>
                    </a:p>
                    <a:p>
                      <a:pPr>
                        <a:buNone/>
                      </a:pPr>
                      <a:endParaRPr lang="en-MY" sz="1200" dirty="0"/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A3.1 </a:t>
                      </a:r>
                      <a:endParaRPr lang="en-MY" sz="1200" dirty="0"/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Target Specific column only</a:t>
                      </a:r>
                      <a:endParaRPr lang="en-MY" sz="1200" dirty="0"/>
                    </a:p>
                    <a:p>
                      <a:pPr>
                        <a:buNone/>
                      </a:pPr>
                      <a:endParaRPr lang="en-MY" sz="1200" dirty="0"/>
                    </a:p>
                  </a:txBody>
                  <a:tcPr marL="23359" marR="23359" marT="11679" marB="116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• Total rows: 0</a:t>
                      </a:r>
                    </a:p>
                    <a:p>
                      <a:pPr>
                        <a:buNone/>
                      </a:pPr>
                      <a:r>
                        <a:rPr lang="en-US" sz="1200" dirty="0"/>
                        <a:t>• Duration:  n/a</a:t>
                      </a:r>
                    </a:p>
                    <a:p>
                      <a:pPr>
                        <a:buNone/>
                      </a:pPr>
                      <a:r>
                        <a:rPr lang="en-US" sz="1200" dirty="0"/>
                        <a:t>Failed to extract any data</a:t>
                      </a:r>
                    </a:p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23359" marR="23359" marT="11679" marB="11679" anchor="ctr"/>
                </a:tc>
                <a:extLst>
                  <a:ext uri="{0D108BD9-81ED-4DB2-BD59-A6C34878D82A}">
                    <a16:rowId xmlns:a16="http://schemas.microsoft.com/office/drawing/2014/main" val="262265398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DAB9766-DE8A-A3ED-F11F-400B112504B7}"/>
              </a:ext>
            </a:extLst>
          </p:cNvPr>
          <p:cNvSpPr txBox="1"/>
          <p:nvPr/>
        </p:nvSpPr>
        <p:spPr>
          <a:xfrm>
            <a:off x="2946400" y="273050"/>
            <a:ext cx="4800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MY" dirty="0"/>
              <a:t>Experiment Summary Table</a:t>
            </a:r>
          </a:p>
        </p:txBody>
      </p:sp>
    </p:spTree>
    <p:extLst>
      <p:ext uri="{BB962C8B-B14F-4D97-AF65-F5344CB8AC3E}">
        <p14:creationId xmlns:p14="http://schemas.microsoft.com/office/powerpoint/2010/main" val="4303070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233C5-3097-A996-5E9E-540D26CCC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82B8D42-6BEB-F229-C097-8D521C62BAB3}"/>
              </a:ext>
            </a:extLst>
          </p:cNvPr>
          <p:cNvSpPr txBox="1"/>
          <p:nvPr/>
        </p:nvSpPr>
        <p:spPr>
          <a:xfrm>
            <a:off x="3746500" y="349250"/>
            <a:ext cx="4343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dirty="0"/>
              <a:t>Experiment Ongoing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F712F5-BB55-8B28-B779-F94A98778934}"/>
              </a:ext>
            </a:extLst>
          </p:cNvPr>
          <p:cNvSpPr txBox="1"/>
          <p:nvPr/>
        </p:nvSpPr>
        <p:spPr>
          <a:xfrm>
            <a:off x="927100" y="1035050"/>
            <a:ext cx="8839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/>
            <a:r>
              <a:rPr lang="en-US" dirty="0"/>
              <a:t>Based on Use-Case 3 Purpose, the extraction of certain column within a table is still unable to be completed because we still have not found the correct prompt to use.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63A4305-9983-B6FF-B5B6-0860BDBC845A}"/>
              </a:ext>
            </a:extLst>
          </p:cNvPr>
          <p:cNvSpPr txBox="1"/>
          <p:nvPr/>
        </p:nvSpPr>
        <p:spPr>
          <a:xfrm>
            <a:off x="317500" y="208964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Prompt 1</a:t>
            </a:r>
            <a:endParaRPr lang="en-MY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8C9F80-1758-83CA-465E-3A3B3DEFD631}"/>
              </a:ext>
            </a:extLst>
          </p:cNvPr>
          <p:cNvSpPr txBox="1"/>
          <p:nvPr/>
        </p:nvSpPr>
        <p:spPr>
          <a:xfrm>
            <a:off x="241300" y="2542470"/>
            <a:ext cx="46482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/>
            <a:r>
              <a:rPr lang="en-US" dirty="0"/>
              <a:t>Please identify all table in the file. </a:t>
            </a:r>
          </a:p>
          <a:p>
            <a:pPr lvl="2"/>
            <a:r>
              <a:rPr lang="en-US" dirty="0"/>
              <a:t>after that, extract  all porosity values per core sample or sample ID.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6F5F085-C4B6-C94C-5531-049C9F709ABF}"/>
              </a:ext>
            </a:extLst>
          </p:cNvPr>
          <p:cNvSpPr txBox="1"/>
          <p:nvPr/>
        </p:nvSpPr>
        <p:spPr>
          <a:xfrm>
            <a:off x="4889500" y="206722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Prompt 2</a:t>
            </a:r>
            <a:endParaRPr lang="en-MY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95EEDC-7CC0-EB9B-F8C5-ADAE04E867C0}"/>
              </a:ext>
            </a:extLst>
          </p:cNvPr>
          <p:cNvSpPr txBox="1"/>
          <p:nvPr/>
        </p:nvSpPr>
        <p:spPr>
          <a:xfrm>
            <a:off x="4892869" y="2405578"/>
            <a:ext cx="534644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/>
            <a:r>
              <a:rPr lang="en-US" dirty="0"/>
              <a:t>Extract data from the table in this document.</a:t>
            </a:r>
          </a:p>
          <a:p>
            <a:pPr lvl="2"/>
            <a:endParaRPr lang="en-US" dirty="0"/>
          </a:p>
          <a:p>
            <a:pPr lvl="2"/>
            <a:r>
              <a:rPr lang="en-US" dirty="0"/>
              <a:t>Target columns (by description, not name): </a:t>
            </a:r>
          </a:p>
          <a:p>
            <a:pPr marL="342900" lvl="2" indent="-342900">
              <a:buAutoNum type="arabicPeriod"/>
            </a:pPr>
            <a:r>
              <a:rPr lang="en-US" dirty="0"/>
              <a:t>[“Sample Core or Sample ID"] </a:t>
            </a:r>
          </a:p>
          <a:p>
            <a:pPr lvl="2"/>
            <a:r>
              <a:rPr lang="en-US" dirty="0"/>
              <a:t>2. [“Porosity Value"] </a:t>
            </a:r>
          </a:p>
          <a:p>
            <a:pPr lvl="2"/>
            <a:endParaRPr lang="en-US" dirty="0"/>
          </a:p>
          <a:p>
            <a:pPr lvl="2"/>
            <a:r>
              <a:rPr lang="en-US" dirty="0"/>
              <a:t>How to identify these columns: </a:t>
            </a:r>
          </a:p>
          <a:p>
            <a:pPr marL="285750" lvl="2" indent="-285750">
              <a:buFontTx/>
              <a:buChar char="-"/>
            </a:pPr>
            <a:r>
              <a:rPr lang="en-US" dirty="0"/>
              <a:t>Column 1: [By name] </a:t>
            </a:r>
          </a:p>
          <a:p>
            <a:pPr marL="285750" lvl="2" indent="-285750">
              <a:buFontTx/>
              <a:buChar char="-"/>
            </a:pPr>
            <a:r>
              <a:rPr lang="en-US" dirty="0"/>
              <a:t>Column 2: [By name] </a:t>
            </a:r>
          </a:p>
          <a:p>
            <a:pPr marL="285750" lvl="2" indent="-285750">
              <a:buFontTx/>
              <a:buChar char="-"/>
            </a:pPr>
            <a:endParaRPr lang="en-US" dirty="0"/>
          </a:p>
          <a:p>
            <a:pPr lvl="2"/>
            <a:r>
              <a:rPr lang="en-US" dirty="0"/>
              <a:t>Extract these two columns only. </a:t>
            </a:r>
          </a:p>
          <a:p>
            <a:pPr lvl="2"/>
            <a:r>
              <a:rPr lang="en-US" dirty="0"/>
              <a:t>Output as: [Sample ID] | [Porosity value]</a:t>
            </a:r>
          </a:p>
        </p:txBody>
      </p:sp>
    </p:spTree>
    <p:extLst>
      <p:ext uri="{BB962C8B-B14F-4D97-AF65-F5344CB8AC3E}">
        <p14:creationId xmlns:p14="http://schemas.microsoft.com/office/powerpoint/2010/main" val="28207515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B3A71-037A-4B59-0812-F650FF08A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87678D8-6DD2-5EF4-02FC-3D60B1AA64BE}"/>
              </a:ext>
            </a:extLst>
          </p:cNvPr>
          <p:cNvSpPr txBox="1"/>
          <p:nvPr/>
        </p:nvSpPr>
        <p:spPr>
          <a:xfrm>
            <a:off x="3746500" y="349250"/>
            <a:ext cx="4343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dirty="0"/>
              <a:t>Experiment Ongoing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B7F182-EBAC-3C03-ACC3-9B6885F8B436}"/>
              </a:ext>
            </a:extLst>
          </p:cNvPr>
          <p:cNvSpPr txBox="1"/>
          <p:nvPr/>
        </p:nvSpPr>
        <p:spPr>
          <a:xfrm>
            <a:off x="1460500" y="88265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Prompt 3</a:t>
            </a:r>
            <a:endParaRPr lang="en-MY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8DE35F-FC38-F6BF-2281-3CD638550C7A}"/>
              </a:ext>
            </a:extLst>
          </p:cNvPr>
          <p:cNvSpPr txBox="1"/>
          <p:nvPr/>
        </p:nvSpPr>
        <p:spPr>
          <a:xfrm>
            <a:off x="1231900" y="1214012"/>
            <a:ext cx="853440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/>
            <a:r>
              <a:rPr lang="en-US" dirty="0"/>
              <a:t>I need you to extract specific data from a table in this document.</a:t>
            </a:r>
          </a:p>
          <a:p>
            <a:pPr lvl="2"/>
            <a:r>
              <a:rPr lang="en-US" dirty="0"/>
              <a:t>Table identification: [“First Table in the page"] </a:t>
            </a:r>
          </a:p>
          <a:p>
            <a:pPr lvl="2"/>
            <a:r>
              <a:rPr lang="en-US" dirty="0"/>
              <a:t>What I need to extract: </a:t>
            </a:r>
          </a:p>
          <a:p>
            <a:pPr lvl="2"/>
            <a:r>
              <a:rPr lang="en-US" dirty="0"/>
              <a:t>- Column A: [“Sample ID"] </a:t>
            </a:r>
          </a:p>
          <a:p>
            <a:pPr lvl="2"/>
            <a:r>
              <a:rPr lang="en-US" dirty="0"/>
              <a:t>- Column B: [“Helium Porosity "] </a:t>
            </a:r>
          </a:p>
          <a:p>
            <a:pPr lvl="2"/>
            <a:endParaRPr lang="en-US" dirty="0"/>
          </a:p>
          <a:p>
            <a:pPr lvl="2"/>
            <a:r>
              <a:rPr lang="en-US" dirty="0"/>
              <a:t>Column identification guidance: </a:t>
            </a:r>
          </a:p>
          <a:p>
            <a:pPr lvl="2"/>
            <a:r>
              <a:rPr lang="en-US" dirty="0"/>
              <a:t>For Column A, look for: </a:t>
            </a:r>
          </a:p>
          <a:p>
            <a:pPr lvl="2"/>
            <a:r>
              <a:rPr lang="en-US" dirty="0"/>
              <a:t>- [Data characteristics, e.g., "alphanumeric codes“]</a:t>
            </a:r>
          </a:p>
          <a:p>
            <a:pPr lvl="2"/>
            <a:r>
              <a:rPr lang="en-US" dirty="0"/>
              <a:t>- [Value patterns, e.g., “unique for each row’”]</a:t>
            </a:r>
          </a:p>
          <a:p>
            <a:pPr lvl="2"/>
            <a:r>
              <a:rPr lang="en-US" dirty="0"/>
              <a:t>- [Position hints, e.g., "usually the first column“]</a:t>
            </a:r>
          </a:p>
          <a:p>
            <a:pPr lvl="2"/>
            <a:r>
              <a:rPr lang="en-US" dirty="0"/>
              <a:t>For Column B, look for: </a:t>
            </a:r>
          </a:p>
          <a:p>
            <a:pPr lvl="2"/>
            <a:r>
              <a:rPr lang="en-US" dirty="0"/>
              <a:t>- [Data characteristics, e.g., "numeric values “]</a:t>
            </a:r>
          </a:p>
          <a:p>
            <a:pPr lvl="2"/>
            <a:r>
              <a:rPr lang="en-US" dirty="0"/>
              <a:t>- [Value patterns, e.g., "decimal numbers"] </a:t>
            </a:r>
          </a:p>
          <a:p>
            <a:pPr lvl="2"/>
            <a:r>
              <a:rPr lang="en-US" dirty="0"/>
              <a:t>- [Position hints, e.g., "usually the column placed in the middle"] </a:t>
            </a:r>
          </a:p>
          <a:p>
            <a:pPr lvl="2"/>
            <a:endParaRPr lang="en-US" dirty="0"/>
          </a:p>
          <a:p>
            <a:pPr lvl="2"/>
            <a:r>
              <a:rPr lang="en-US" dirty="0"/>
              <a:t>Task: </a:t>
            </a:r>
          </a:p>
          <a:p>
            <a:pPr lvl="2"/>
            <a:r>
              <a:rPr lang="en-US" dirty="0"/>
              <a:t>1. Identify the table </a:t>
            </a:r>
          </a:p>
          <a:p>
            <a:pPr lvl="2"/>
            <a:r>
              <a:rPr lang="en-US" dirty="0"/>
              <a:t>2. Determine which columns match the descriptions above </a:t>
            </a:r>
          </a:p>
          <a:p>
            <a:pPr lvl="2"/>
            <a:r>
              <a:rPr lang="en-US" dirty="0"/>
              <a:t>3. Extract only those columns for all rows as JSON array</a:t>
            </a:r>
          </a:p>
          <a:p>
            <a:pPr lvl="2"/>
            <a:r>
              <a:rPr lang="en-US" dirty="0"/>
              <a:t>4. Ignore all other columns </a:t>
            </a:r>
          </a:p>
        </p:txBody>
      </p:sp>
    </p:spTree>
    <p:extLst>
      <p:ext uri="{BB962C8B-B14F-4D97-AF65-F5344CB8AC3E}">
        <p14:creationId xmlns:p14="http://schemas.microsoft.com/office/powerpoint/2010/main" val="33622313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50000" y="180000"/>
            <a:ext cx="98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Agentic Document Extraction (ADE)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0000" y="780000"/>
            <a:ext cx="98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95959"/>
                </a:solidFill>
                <a:latin typeface="Calibri"/>
              </a:rPr>
              <a:t>LandingAI framework — docs.landing.ai/ade/ade-overview  |  github.com/landing-ai/ade-helper-scripts</a:t>
            </a:r>
          </a:p>
        </p:txBody>
      </p:sp>
      <p:sp>
        <p:nvSpPr>
          <p:cNvPr id="5" name="Rectangle 4"/>
          <p:cNvSpPr/>
          <p:nvPr/>
        </p:nvSpPr>
        <p:spPr>
          <a:xfrm>
            <a:off x="150000" y="1380000"/>
            <a:ext cx="5146700" cy="5976500"/>
          </a:xfrm>
          <a:prstGeom prst="rect">
            <a:avLst/>
          </a:prstGeom>
          <a:solidFill>
            <a:srgbClr val="F2F2F2"/>
          </a:solidFill>
          <a:ln w="9525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50000" y="1500000"/>
            <a:ext cx="4946700" cy="5776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buNone/>
            </a:pPr>
            <a:r>
              <a:rPr lang="en-US" sz="1800" b="1" u="sng" dirty="0">
                <a:solidFill>
                  <a:srgbClr val="002060"/>
                </a:solidFill>
              </a:rPr>
              <a:t>What is ADE?</a:t>
            </a:r>
          </a:p>
          <a:p>
            <a:endParaRPr lang="en-US" sz="1200" dirty="0"/>
          </a:p>
          <a:p>
            <a:pPr algn="l">
              <a:buNone/>
            </a:pPr>
            <a:r>
              <a:rPr lang="en-US" sz="1300" dirty="0">
                <a:solidFill>
                  <a:srgbClr val="000000"/>
                </a:solidFill>
              </a:rPr>
              <a:t>Agentic Document Extraction (ADE) is a document intelligence pipeline that converts unstructured documents — PDFs, scans, images — into reliable, structured, machine-readable data suitable for RAG, search, and ML applications.</a:t>
            </a:r>
          </a:p>
          <a:p>
            <a:endParaRPr lang="en-US" sz="1200" dirty="0"/>
          </a:p>
          <a:p>
            <a:pPr algn="l">
              <a:buNone/>
            </a:pPr>
            <a:r>
              <a:rPr lang="en-US" sz="1400" b="1" dirty="0">
                <a:solidFill>
                  <a:srgbClr val="002060"/>
                </a:solidFill>
              </a:rPr>
              <a:t>Core ADE Pipeline (LandingAI):</a:t>
            </a:r>
          </a:p>
          <a:p>
            <a:endParaRPr lang="en-US" sz="1200" dirty="0"/>
          </a:p>
          <a:p>
            <a:pPr algn="l">
              <a:buNone/>
            </a:pPr>
            <a:r>
              <a:rPr lang="en-US" sz="1300" b="1" dirty="0">
                <a:solidFill>
                  <a:srgbClr val="4472C4"/>
                </a:solidFill>
              </a:rPr>
              <a:t>Parse</a:t>
            </a:r>
          </a:p>
          <a:p>
            <a:pPr marL="457200" indent="-457200" algn="l">
              <a:buChar char="•"/>
            </a:pPr>
            <a:r>
              <a:rPr lang="en-US" sz="1200" dirty="0">
                <a:solidFill>
                  <a:srgbClr val="000000"/>
                </a:solidFill>
              </a:rPr>
              <a:t>Converts documents to structured Markdown + JSON chunks. Each chunk (text, table, figure) gets page number and bounding box coordinates.</a:t>
            </a:r>
          </a:p>
          <a:p>
            <a:endParaRPr lang="en-US" sz="1200" dirty="0"/>
          </a:p>
          <a:p>
            <a:pPr algn="l">
              <a:buNone/>
            </a:pPr>
            <a:r>
              <a:rPr lang="en-US" sz="1300" b="1" dirty="0">
                <a:solidFill>
                  <a:srgbClr val="4472C4"/>
                </a:solidFill>
              </a:rPr>
              <a:t>Split  (optional)</a:t>
            </a:r>
          </a:p>
          <a:p>
            <a:pPr marL="457200" indent="-457200" algn="l">
              <a:buChar char="•"/>
            </a:pPr>
            <a:r>
              <a:rPr lang="en-US" sz="1200" dirty="0">
                <a:solidFill>
                  <a:srgbClr val="000000"/>
                </a:solidFill>
              </a:rPr>
              <a:t>Separates multi-document files into individual documents by type (e.g., batch KYC packages).</a:t>
            </a:r>
          </a:p>
          <a:p>
            <a:endParaRPr lang="en-US" sz="1200" dirty="0"/>
          </a:p>
          <a:p>
            <a:pPr algn="l">
              <a:buNone/>
            </a:pPr>
            <a:r>
              <a:rPr lang="en-US" sz="1300" b="1" dirty="0">
                <a:solidFill>
                  <a:srgbClr val="4472C4"/>
                </a:solidFill>
              </a:rPr>
              <a:t>Extract</a:t>
            </a:r>
          </a:p>
          <a:p>
            <a:pPr marL="457200" indent="-457200" algn="l">
              <a:buChar char="•"/>
            </a:pPr>
            <a:r>
              <a:rPr lang="en-US" sz="1200" dirty="0">
                <a:solidFill>
                  <a:srgbClr val="000000"/>
                </a:solidFill>
              </a:rPr>
              <a:t>Schema-based field extraction — define field names, API returns matching values from parsed content.</a:t>
            </a:r>
          </a:p>
          <a:p>
            <a:endParaRPr lang="en-US" sz="1200" dirty="0"/>
          </a:p>
          <a:p>
            <a:pPr algn="l">
              <a:buNone/>
            </a:pPr>
            <a:r>
              <a:rPr lang="en-US" sz="1300" b="1" dirty="0">
                <a:solidFill>
                  <a:srgbClr val="70AD47"/>
                </a:solidFill>
              </a:rPr>
              <a:t>Benchmark accuracy: 99.16% on DocVQA dataset (LandingAI, 2025)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46700" y="1380000"/>
            <a:ext cx="5146700" cy="59765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546700" y="1500000"/>
            <a:ext cx="4946700" cy="5776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buNone/>
            </a:pPr>
            <a:r>
              <a:rPr lang="en-US" sz="1800" b="1" u="sng" dirty="0">
                <a:solidFill>
                  <a:srgbClr val="002060"/>
                </a:solidFill>
              </a:rPr>
              <a:t>Key Features</a:t>
            </a:r>
          </a:p>
          <a:p>
            <a:endParaRPr lang="en-US" sz="1200" dirty="0"/>
          </a:p>
          <a:p>
            <a:pPr algn="l">
              <a:buNone/>
            </a:pPr>
            <a:r>
              <a:rPr lang="en-US" sz="1300" b="1" dirty="0">
                <a:solidFill>
                  <a:srgbClr val="002060"/>
                </a:solidFill>
              </a:rPr>
              <a:t>✓  Layout-agnostic parsing</a:t>
            </a:r>
          </a:p>
          <a:p>
            <a:pPr marL="457200" indent="-457200" algn="l">
              <a:buChar char="–"/>
            </a:pPr>
            <a:r>
              <a:rPr lang="en-US" sz="1200" dirty="0">
                <a:solidFill>
                  <a:srgbClr val="000000"/>
                </a:solidFill>
              </a:rPr>
              <a:t>Works out-of-the-box — no templates or training needed</a:t>
            </a:r>
          </a:p>
          <a:p>
            <a:endParaRPr lang="en-US" sz="1200" dirty="0"/>
          </a:p>
          <a:p>
            <a:pPr algn="l">
              <a:buNone/>
            </a:pPr>
            <a:r>
              <a:rPr lang="en-US" sz="1300" b="1" dirty="0">
                <a:solidFill>
                  <a:srgbClr val="002060"/>
                </a:solidFill>
              </a:rPr>
              <a:t>✓  Element detection</a:t>
            </a:r>
          </a:p>
          <a:p>
            <a:pPr marL="457200" indent="-457200" algn="l">
              <a:buChar char="–"/>
            </a:pPr>
            <a:r>
              <a:rPr lang="en-US" sz="1200" dirty="0">
                <a:solidFill>
                  <a:srgbClr val="000000"/>
                </a:solidFill>
              </a:rPr>
              <a:t>Text, tables, images, form fields, barcodes — all detected</a:t>
            </a:r>
          </a:p>
          <a:p>
            <a:endParaRPr lang="en-US" sz="1200" dirty="0"/>
          </a:p>
          <a:p>
            <a:pPr algn="l">
              <a:buNone/>
            </a:pPr>
            <a:r>
              <a:rPr lang="en-US" sz="1300" b="1" dirty="0">
                <a:solidFill>
                  <a:srgbClr val="002060"/>
                </a:solidFill>
              </a:rPr>
              <a:t>✓  Visual grounding</a:t>
            </a:r>
          </a:p>
          <a:p>
            <a:pPr marL="457200" indent="-457200" algn="l">
              <a:buChar char="–"/>
            </a:pPr>
            <a:r>
              <a:rPr lang="en-US" sz="1200" dirty="0">
                <a:solidFill>
                  <a:srgbClr val="000000"/>
                </a:solidFill>
              </a:rPr>
              <a:t>Bounding box + page number per chunk for traceability and compliance</a:t>
            </a:r>
          </a:p>
          <a:p>
            <a:endParaRPr lang="en-US" sz="1200" dirty="0"/>
          </a:p>
          <a:p>
            <a:pPr algn="l">
              <a:buNone/>
            </a:pPr>
            <a:r>
              <a:rPr lang="en-US" sz="1300" b="1" dirty="0">
                <a:solidFill>
                  <a:srgbClr val="002060"/>
                </a:solidFill>
              </a:rPr>
              <a:t>✓  Hierarchical understanding</a:t>
            </a:r>
          </a:p>
          <a:p>
            <a:pPr marL="457200" indent="-457200" algn="l">
              <a:buChar char="–"/>
            </a:pPr>
            <a:r>
              <a:rPr lang="en-US" sz="1200" dirty="0">
                <a:solidFill>
                  <a:srgbClr val="000000"/>
                </a:solidFill>
              </a:rPr>
              <a:t>Reading order and element relationships preserved across pages</a:t>
            </a:r>
          </a:p>
          <a:p>
            <a:endParaRPr lang="en-US" sz="1200" dirty="0"/>
          </a:p>
          <a:p>
            <a:pPr algn="l">
              <a:buNone/>
            </a:pPr>
            <a:r>
              <a:rPr lang="en-US" sz="1300" b="1" dirty="0">
                <a:solidFill>
                  <a:srgbClr val="002060"/>
                </a:solidFill>
              </a:rPr>
              <a:t>✓  Schema-based field extraction</a:t>
            </a:r>
          </a:p>
          <a:p>
            <a:pPr marL="457200" indent="-457200" algn="l">
              <a:buChar char="–"/>
            </a:pPr>
            <a:r>
              <a:rPr lang="en-US" sz="1200" dirty="0">
                <a:solidFill>
                  <a:srgbClr val="000000"/>
                </a:solidFill>
              </a:rPr>
              <a:t>Define field names — API extracts matching values automatically</a:t>
            </a:r>
          </a:p>
          <a:p>
            <a:endParaRPr lang="en-US" sz="1200" dirty="0"/>
          </a:p>
          <a:p>
            <a:pPr algn="l">
              <a:buNone/>
            </a:pPr>
            <a:r>
              <a:rPr lang="en-US" sz="1300" b="1" dirty="0">
                <a:solidFill>
                  <a:srgbClr val="002060"/>
                </a:solidFill>
              </a:rPr>
              <a:t>✓  Flexible output</a:t>
            </a:r>
          </a:p>
          <a:p>
            <a:pPr marL="457200" indent="-457200" algn="l">
              <a:buChar char="–"/>
            </a:pPr>
            <a:r>
              <a:rPr lang="en-US" sz="1200" dirty="0">
                <a:solidFill>
                  <a:srgbClr val="000000"/>
                </a:solidFill>
              </a:rPr>
              <a:t>Markdown (human-readable) + JSON (programmatic access)</a:t>
            </a:r>
          </a:p>
          <a:p>
            <a:endParaRPr lang="en-US" sz="1200" dirty="0"/>
          </a:p>
          <a:p>
            <a:pPr algn="l">
              <a:buNone/>
            </a:pPr>
            <a:r>
              <a:rPr lang="en-US" sz="1300" b="1" dirty="0">
                <a:solidFill>
                  <a:srgbClr val="002060"/>
                </a:solidFill>
              </a:rPr>
              <a:t>✓  Multi-file type support</a:t>
            </a:r>
          </a:p>
          <a:p>
            <a:pPr marL="457200" indent="-457200" algn="l">
              <a:buChar char="–"/>
            </a:pPr>
            <a:r>
              <a:rPr lang="en-US" sz="1200" dirty="0">
                <a:solidFill>
                  <a:srgbClr val="000000"/>
                </a:solidFill>
              </a:rPr>
              <a:t>PDF, images, presentations, spreadsheets, text documents</a:t>
            </a:r>
          </a:p>
          <a:p>
            <a:endParaRPr lang="en-US" sz="1200" dirty="0"/>
          </a:p>
          <a:p>
            <a:pPr algn="l">
              <a:buNone/>
            </a:pPr>
            <a:r>
              <a:rPr lang="en-US" sz="1300" b="1" dirty="0">
                <a:solidFill>
                  <a:srgbClr val="002060"/>
                </a:solidFill>
              </a:rPr>
              <a:t>✓  Multi-language support</a:t>
            </a:r>
          </a:p>
          <a:p>
            <a:pPr marL="457200" indent="-457200" algn="l">
              <a:buChar char="–"/>
            </a:pPr>
            <a:r>
              <a:rPr lang="en-US" sz="1200" dirty="0">
                <a:solidFill>
                  <a:srgbClr val="000000"/>
                </a:solidFill>
              </a:rPr>
              <a:t>Parses documents in many languages</a:t>
            </a:r>
          </a:p>
          <a:p>
            <a:endParaRPr lang="en-US" sz="1200" dirty="0"/>
          </a:p>
          <a:p>
            <a:pPr algn="l">
              <a:buNone/>
            </a:pPr>
            <a:r>
              <a:rPr lang="en-US" sz="1300" b="1" dirty="0">
                <a:solidFill>
                  <a:srgbClr val="002060"/>
                </a:solidFill>
              </a:rPr>
              <a:t>✓  Cloud API / scalable</a:t>
            </a:r>
          </a:p>
          <a:p>
            <a:pPr marL="457200" indent="-457200" algn="l">
              <a:buChar char="–"/>
            </a:pPr>
            <a:r>
              <a:rPr lang="en-US" sz="1200" dirty="0">
                <a:solidFill>
                  <a:srgbClr val="000000"/>
                </a:solidFill>
              </a:rPr>
              <a:t>REST API, async batch jobs, AWS Lambda, Snowflake compatible</a:t>
            </a:r>
          </a:p>
          <a:p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50000" y="180000"/>
            <a:ext cx="98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ADE Comparison: LandingAI vs Our olmOCR ADE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0000" y="780000"/>
            <a:ext cx="98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95959"/>
                </a:solidFill>
                <a:latin typeface="Calibri"/>
              </a:rPr>
              <a:t>Key differences across access model, infrastructure, capabilities, and data privacy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50000" y="1360000"/>
          <a:ext cx="10393400" cy="609766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55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691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6031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Dimension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LandingAI ADE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Our olmOCR ADE (PETRO-AFRO)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603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Access model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Cloud API — paid credits, internet required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Fully offline — on-premise GPU, no external dependency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603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Core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Proprietary DPT-2 (LandingAI closed model)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allenai/olmOCR-2-7B-1025-FP8 (open weights)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603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Model quantization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Unknown — proprietary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FP8 via compressed-tensors — ~7 GB VRAM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603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Input image handling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Handled internally by the API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1288 px longest dimension (pdftoppm -scale-to 1288)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603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Prompting strategy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Schema-driven JSON field definitions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olmOCR v4 YAML prompt + LLM Prompt Optimizer agent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603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OCR output format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Markdown + JSON chunks + bounding boxes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Markdown + YAML front matter (language, rotation, is_table, is_diagram)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603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Table extraction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Native structured HTML/Markdown tables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HTML &lt;table&gt; in markdown; rendered as Treeview in GUI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603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Figure handling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Description + bounding box coordinate chunk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Alt-text label + page_x_y_w_h.png filename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603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Post-processing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ADE Extract API (schema-based, cloud call)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PostProcessAgent — local / Groq / OpenAI LLM, anti-hallucination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603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Export formats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JSON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JSON + Excel (.xlsx) + CSV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603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User interface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None — API calls only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Full tkinter GUI with preview, extract, post-process, export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603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Per-page credit subscription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Hardware only (GPU power)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7603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Data privacy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Data leaves premises — sent to LandingAI servers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Data stays entirely on-premise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7603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Graph digitization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Bounding box only — no data point extraction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Same limitation (VLM model constraint, FP8 version)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7603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Fine-tuning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Not possible — closed model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Planned — domain-specific SCAL corpus fine-tuning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50000" y="180000"/>
            <a:ext cx="98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olmOCR: Original vs Our ADE 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0000" y="780000"/>
            <a:ext cx="98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95959"/>
                </a:solidFill>
                <a:latin typeface="Calibri"/>
              </a:rPr>
              <a:t>Technical parameter comparison — model, inference backend, pipeline, and interface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50000" y="1360000"/>
          <a:ext cx="10393400" cy="61394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5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298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770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42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Original olmOCR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Our olmOCR ADE (PETRO-AFRO)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4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Model variant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olmOCR-7B (FP32 / BF16)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olmOCR-2-7B-1025-FP8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4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VRAM required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~14 GB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~7 GB (FP8 quantization via compressed-tensors 0.12.2)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4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Processor / tokenizer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Qwen2.5-VL-7B-Instruct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Same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4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Inference backend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vLLM (batch server, production-optimised)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HuggingFace Transformers (single GPU, interactive)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4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PDF rendering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pdftoppm via pipeline wrapper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Direct pdftoppm subprocess — temp file — read back — delete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4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Image resolution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1288 px longest dimension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Same (pdftoppm -scale-to 1288 flag)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4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Base prompt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build_no_anchoring_v4_yaml_prompt()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Same base + LLM Prompt Optimizer (system-constrained)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4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Decoding strategy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Greedy (temperature = 0.0, do_sample = False)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Same — matches official pipeline, faster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4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Max new tokens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8000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Same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4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YAML front matter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primary_language, is_rotation_valid, rotation_correction, is_table, is_diagram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Same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4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Anchor text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No anchoring (v4 prompt — no pdftotext context)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Same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34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Page selection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All pages, batch run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User selects pages via checkboxes — selective extraction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34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Post-processing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None — raw text output only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PostProcessAgent (LLM) — full document → structured JSON records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34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Table rendering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HTML &lt;table&gt; → Treeview grid in GUI (Rendered Tables tab)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34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Export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JSON (pipeline output)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JSON + Excel (.xlsx) + CSV — with metadata sheet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34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User interface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CLI / pipeline script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tkinter GUI — document preview, extract, post-process, export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334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Timing / tokens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Logged per batch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Per-page duration (s) and token count in Page Timings tab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50000" y="180000"/>
            <a:ext cx="98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Extraction Results — Angsi 1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0000" y="780000"/>
            <a:ext cx="98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95959"/>
                </a:solidFill>
                <a:latin typeface="Calibri"/>
              </a:rPr>
              <a:t>Document: CORE ANALYSIS REPORT, ANGSI WELL NO.1 (ESSO Exploration Malaysia, 1974/1976)  |  17 pages extracted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50000" y="1330000"/>
          <a:ext cx="10393400" cy="557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6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72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14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911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980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Page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Duration (min)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Tokens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Content Summary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80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0.94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1,725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Cover page — document title, authors, date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80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1,691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Cover page — report header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80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0.95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1,804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Cover page — report title block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980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1.77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1,791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Report details — author, division, date, confidentiality notice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980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1.49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1,764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Table of Contents — Tables I, II, III; Figures 1–9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980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13.29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2,726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TABLE I — Porosity &amp; Permeability Data (12 core samples, 6 columns)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980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12.94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2,512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TABLE II — Centrifuge Gas-Oil Capillary Pressure Data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980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15.88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2,878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TABLE III — Electrical Property Measurements (4 cores: AN-28, AN-29, AN-32, AN-38)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980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1.92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1,797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Figure 1 — Capillary Pressure Curve (Core AN-30, 8015 ft)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980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1,803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Figure 2 — Capillary Pressure Curve (Core AN-36, 8037 ft)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0980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2.10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1,809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Figure 3 — Capillary Pressure Curve (Core AN-37, 8038 ft)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0980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1,798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Figure 4 — Capillary Pressure Curve (Core AN-39, 8040 ft)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0980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2.28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1,841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Figure 5 — Resistivity Ratio vs Sw (Core AN-28, Desat. Exp. 2.11)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0980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2.31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1,843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Figure 6 — Resistivity Ratio vs Sw (Core AN-29, Desat. Exp. 2.01)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0980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4.05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2,011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Figure 7 — Resistivity Ratio vs Sw (Core AN-32, Desat. Exp. 1.94) — table inside figure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0980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2.46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1,856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Figure 8 — Resistivity Ratio vs Sw (Core AN-38, Desat. Exp. 2.45)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30981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1.15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1,731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Figure 9 — Formation Factor vs Porosity (Cementation Factor 2.06)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00000" y="7086500"/>
            <a:ext cx="100934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95959"/>
                </a:solidFill>
                <a:latin typeface="Calibri"/>
              </a:rPr>
              <a:t>TOTAL:  17 pages  |  4,086.5 s (~68.1 min)  |  33,380 tokens  |  3 data tables (HTML)  |  9 figures labeled  |  Complex table pages (6–8) took 12.9–15.9 min each due to large token output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50000" y="180000"/>
            <a:ext cx="98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Extracted Page 6 — TABLE I (Porosity &amp; Permeability)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0000" y="780000"/>
            <a:ext cx="98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95959"/>
                </a:solidFill>
                <a:latin typeface="Calibri"/>
              </a:rPr>
              <a:t>Core samples: AN-28 through AN-39  |  Duration: 13.29 min  |  Tokens: 2,726</a:t>
            </a:r>
          </a:p>
        </p:txBody>
      </p:sp>
      <p:pic>
        <p:nvPicPr>
          <p:cNvPr id="5" name="Picture 4" descr="temp_p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00" y="1330000"/>
            <a:ext cx="10393400" cy="60765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50000" y="180000"/>
            <a:ext cx="98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Extracted Page 7 — TABLE II (Gas-Oil Capillary Pressure)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0000" y="780000"/>
            <a:ext cx="98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95959"/>
                </a:solidFill>
                <a:latin typeface="Calibri"/>
              </a:rPr>
              <a:t>Cores: AN-30, AN-36  |  Duration: 12.94 min  |  Tokens: 2,512</a:t>
            </a:r>
          </a:p>
        </p:txBody>
      </p:sp>
      <p:pic>
        <p:nvPicPr>
          <p:cNvPr id="5" name="Picture 4" descr="temp_p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00" y="1330000"/>
            <a:ext cx="10393400" cy="60765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50000" y="180000"/>
            <a:ext cx="98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Extracted Page 8 — TABLE III (Electrical Properties)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0000" y="780000"/>
            <a:ext cx="98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95959"/>
                </a:solidFill>
                <a:latin typeface="Calibri"/>
              </a:rPr>
              <a:t>Cores: AN-28, AN-29, AN-32, AN-38  |  Duration: 15.88 min  |  Tokens: 2,878</a:t>
            </a:r>
          </a:p>
        </p:txBody>
      </p:sp>
      <p:pic>
        <p:nvPicPr>
          <p:cNvPr id="5" name="Picture 4" descr="temp_p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00" y="1330000"/>
            <a:ext cx="10393400" cy="60765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50000" y="180000"/>
            <a:ext cx="98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Extracted Page 9 — FIGURE 1 (Capillary Pressure Curve)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0000" y="780000"/>
            <a:ext cx="98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95959"/>
                </a:solidFill>
                <a:latin typeface="Calibri"/>
              </a:rPr>
              <a:t>Core: AN-30, Depth: 8015 ft  |  Duration: 1.92 min  |  Tokens: 1,797</a:t>
            </a:r>
          </a:p>
        </p:txBody>
      </p:sp>
      <p:pic>
        <p:nvPicPr>
          <p:cNvPr id="5" name="Picture 4" descr="temp_p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00" y="1330000"/>
            <a:ext cx="10393400" cy="60765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50000" y="180000"/>
            <a:ext cx="98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Extracted Structured Tables — Angsi 1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0000" y="780000"/>
            <a:ext cx="98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95959"/>
                </a:solidFill>
                <a:latin typeface="Calibri"/>
              </a:rPr>
              <a:t>Pages 6–8: olmOCR successfully extracted all 3 SCAL data tables in HTML format</a:t>
            </a:r>
          </a:p>
        </p:txBody>
      </p:sp>
      <p:sp>
        <p:nvSpPr>
          <p:cNvPr id="5" name="Rectangle 4"/>
          <p:cNvSpPr/>
          <p:nvPr/>
        </p:nvSpPr>
        <p:spPr>
          <a:xfrm>
            <a:off x="150000" y="1360000"/>
            <a:ext cx="3414466" cy="38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10000" y="1430000"/>
            <a:ext cx="3294466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TABLE I — Porosity &amp; Permeability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50000" y="1740000"/>
          <a:ext cx="3414464" cy="55855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19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36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36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532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10569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Depth (ft)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Plug No.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Porosity (%)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Gas Perm. (md)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2119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8012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AN-28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16.3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4.42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2119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8013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AN-29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14.1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2119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8015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AN-30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16.2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19.4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2119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8016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AN-31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15.4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7.99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2119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8029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AN-32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9.5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2119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8032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AN-33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14.2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2119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8034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000000"/>
                          </a:solidFill>
                          <a:latin typeface="Calibri"/>
                        </a:rPr>
                        <a:t>AN-34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17.0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50.2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2119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8036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AN-35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14.9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2119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8037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AN-36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14.4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9.17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12119">
                <a:tc>
                  <a:txBody>
                    <a:bodyPr/>
                    <a:lstStyle/>
                    <a:p>
                      <a:pPr algn="l"/>
                      <a:r>
                        <a:rPr sz="1200" b="1" dirty="0">
                          <a:solidFill>
                            <a:srgbClr val="000000"/>
                          </a:solidFill>
                          <a:latin typeface="Calibri"/>
                        </a:rPr>
                        <a:t>8038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AN-37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15.9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51.8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12119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8039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AN-38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15.3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23.5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41212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8040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AN-39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16.4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000000"/>
                          </a:solidFill>
                          <a:latin typeface="Calibri"/>
                        </a:rPr>
                        <a:t>37.1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639466" y="1360000"/>
            <a:ext cx="3414466" cy="38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99466" y="1430000"/>
            <a:ext cx="3294466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FFFFFF"/>
                </a:solidFill>
                <a:latin typeface="Calibri"/>
              </a:rPr>
              <a:t>TABLE II — Gas-Oil Capillary Pressure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39466" y="1740000"/>
          <a:ext cx="3414464" cy="5617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77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94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77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94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58881"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Pc (PSI)
AN-30</a:t>
                      </a:r>
                    </a:p>
                    <a:p>
                      <a:r>
                        <a:rPr dirty="0"/>
                        <a:t>AN-30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Liq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 Sat%
AN-30</a:t>
                      </a:r>
                    </a:p>
                    <a:p>
                      <a:r>
                        <a:rPr dirty="0"/>
                        <a:t>AN-30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Pc (PSI)
AN-36</a:t>
                      </a:r>
                    </a:p>
                    <a:p>
                      <a:r>
                        <a:t>AN-36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Liq Sat%
AN-36</a:t>
                      </a:r>
                    </a:p>
                    <a:p>
                      <a:r>
                        <a:t>AN-36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855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2.4*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3.0*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855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5.7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32.9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5.8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37.2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855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23.3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25.3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23.5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30.4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855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51.3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25.3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51.8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29.5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855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90.8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22.8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91.8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27.1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855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1.9*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2.1*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8855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5.8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22.8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5.8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28.5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8855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23.6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000000"/>
                          </a:solidFill>
                          <a:latin typeface="Calibri"/>
                        </a:rPr>
                        <a:t>18.5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23.2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8855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51.9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18.3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51.8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22.5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8856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91.9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000000"/>
                          </a:solidFill>
                          <a:latin typeface="Calibri"/>
                        </a:rPr>
                        <a:t>17.6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91.7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000000"/>
                          </a:solidFill>
                          <a:latin typeface="Calibri"/>
                        </a:rPr>
                        <a:t>19.6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7128932" y="1360000"/>
            <a:ext cx="3414466" cy="38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88932" y="1430000"/>
            <a:ext cx="3294466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TABLE III — Electrical Properties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128932" y="1740000"/>
          <a:ext cx="3414462" cy="50688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46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46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63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63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631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631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61702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Core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Depth (ft)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Por. (%)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Perm. (md)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FF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Sat. Exp.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07199">
                <a:tc>
                  <a:txBody>
                    <a:bodyPr/>
                    <a:lstStyle/>
                    <a:p>
                      <a:pPr algn="l"/>
                      <a:r>
                        <a:rPr sz="1200" b="1" dirty="0">
                          <a:solidFill>
                            <a:srgbClr val="000000"/>
                          </a:solidFill>
                          <a:latin typeface="Calibri"/>
                        </a:rPr>
                        <a:t>AN-28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8012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16.3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4.42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42.8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2.11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07199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AN-29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8013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14.1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58.03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2.01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07199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AN-32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8029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9.5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137.6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1.94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07199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AN-38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8039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000000"/>
                          </a:solidFill>
                          <a:latin typeface="Calibri"/>
                        </a:rPr>
                        <a:t>15.3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43.6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000000"/>
                          </a:solidFill>
                          <a:latin typeface="Calibri"/>
                        </a:rPr>
                        <a:t>2.45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50000" y="7295997"/>
            <a:ext cx="114451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 dirty="0">
                <a:solidFill>
                  <a:srgbClr val="000000"/>
                </a:solidFill>
                <a:latin typeface="Calibri"/>
              </a:rPr>
              <a:t>* Estimated  |  FF = Formation Factor  |  Sat. Exp. = Saturation Exponent  |  Brine: Lab Synthetic (80,000 ppm NaCl + 20,000 ppm KCl)  |  Gas-Oil Surface Tension = 28.0 Dynes/CM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50000" y="80000"/>
            <a:ext cx="99934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buNone/>
            </a:pPr>
            <a:r>
              <a:rPr lang="en-US" sz="2200" b="1" dirty="0">
                <a:solidFill>
                  <a:srgbClr val="002060"/>
                </a:solidFill>
              </a:rPr>
              <a:t>Extraction Results — Duyong Deep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0000" y="590000"/>
            <a:ext cx="99934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buNone/>
            </a:pPr>
            <a:r>
              <a:rPr lang="en-US" sz="1200" dirty="0">
                <a:solidFill>
                  <a:srgbClr val="595959"/>
                </a:solidFill>
              </a:rPr>
              <a:t>Document: SPECIAL CORE ANALYSIS OF ROTARY SIDEWALL CORES (PETRONAS CARIGALI / UZMA ENGINEERING)  |  38 pages extracted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50000" y="920000"/>
          <a:ext cx="9993400" cy="643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9340"/>
                <a:gridCol w="1598944"/>
                <a:gridCol w="1199208"/>
                <a:gridCol w="6195908"/>
              </a:tblGrid>
              <a:tr h="25746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Page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Duration (s)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Tokens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2574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293.8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1,753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Title page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74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615.7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1,834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Cover page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74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1,147.7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2,094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Table of Contents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74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1,587.9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2,242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Introduction, objectives, samples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74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1,497.7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2,209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Samples &amp; Analyses table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74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1,449.0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2,120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SCAL Introduction &amp; Results summary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74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1,944.7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2,375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Tables 1 &amp; 2 – Formation Resistivity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74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1,434.4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2,184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Table 3 – Capillary Pressure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74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755.8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1,917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Table 4 – CEC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74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98.0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1,681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Blank/spacer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74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1,552.7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2,179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Table 5a – MICP (3184 m)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74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4,630.5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3,092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Table 5b – MICP (3528 m)  ★ Complex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74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2,341.4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2,581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Table 5c – MICP (3576 m)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74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1,286.0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2,085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Table 5d – MICP (3598.5 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74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10,454.7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5,778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Graph 1 – FRF (3184 m)  ★★ Very complex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74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3,547.0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3,071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Graph 2 – FRF (3528 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74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11,389.3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5,775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Graph 3 – Capillary Pressure  ★★ Very complex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74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4,001.6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3,201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Graph 4a – MICP Linear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74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11,992.5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5,774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Graph 4b – MICP Linear  ★★ Very complex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74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4,509.3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3,197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Graph 4c – MICP Linear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74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12,060.6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5,767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Graph 4d – MICP Linear  ★★ Very complex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74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4,809.3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3,331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Graph 5a – MICP Semilog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74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236.8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1,682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Graph 5b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74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24-38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~8,821.5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~28,908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Graphs 5c–6d, Pore Size Distribution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50000" y="7356500"/>
            <a:ext cx="9993400" cy="1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buNone/>
            </a:pPr>
            <a:r>
              <a:rPr lang="en-US" sz="1100" dirty="0">
                <a:solidFill>
                  <a:srgbClr val="595959"/>
                </a:solidFill>
              </a:rPr>
              <a:t>TOTAL:  38 pages  |  91,809.4 s (~25.5 hrs)  |  95,039 tokens  |  4 samples (depths 3184–3598.5 m)  |  Complex graph pages 15, 17, 19, 21 took 10,000–12,061 s each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50000" y="80000"/>
            <a:ext cx="99934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buNone/>
            </a:pPr>
            <a:r>
              <a:rPr lang="en-US" sz="2200" b="1" dirty="0">
                <a:solidFill>
                  <a:srgbClr val="002060"/>
                </a:solidFill>
              </a:rPr>
              <a:t>Duyong Deep 1 — Key SCAL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0000" y="590000"/>
            <a:ext cx="99934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buNone/>
            </a:pPr>
            <a:r>
              <a:rPr lang="en-US" sz="1200" dirty="0">
                <a:solidFill>
                  <a:srgbClr val="595959"/>
                </a:solidFill>
              </a:rPr>
              <a:t>4 rotary sidewall core samples from Block PM12, Offshore Peninsular Malaysia  |  Well drilled by PETRONAS CARIGALI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50000" y="920000"/>
          <a:ext cx="9993400" cy="19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9208"/>
                <a:gridCol w="1199208"/>
                <a:gridCol w="1698878"/>
                <a:gridCol w="1499010"/>
                <a:gridCol w="1499010"/>
                <a:gridCol w="1399076"/>
                <a:gridCol w="1499010"/>
              </a:tblGrid>
              <a:tr h="380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Sample ID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Depth (m)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Formation Factor (F)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Cementation Exp. (m)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Saturation Exp. (n)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CEC (meq/100g)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Swi at Max Drainage (%)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38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3184.0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1.83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1.87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1.08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83.7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3528.0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~1.84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~1.88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~1.12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Very tight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3576.0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~1.85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~1.90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~1.14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Very tight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3598.5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~1.85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~1.88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~1.16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Very tight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50000" y="2870000"/>
            <a:ext cx="99934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buNone/>
            </a:pPr>
            <a:r>
              <a:rPr lang="en-US" sz="1400" b="1" dirty="0">
                <a:solidFill>
                  <a:srgbClr val="002060"/>
                </a:solidFill>
              </a:rPr>
              <a:t>Key Findings</a:t>
            </a:r>
          </a:p>
          <a:p>
            <a:endParaRPr lang="en-US" sz="1100" dirty="0"/>
          </a:p>
          <a:p>
            <a:pPr algn="l">
              <a:buNone/>
            </a:pPr>
            <a:r>
              <a:rPr lang="en-US" sz="1200" b="1" dirty="0">
                <a:solidFill>
                  <a:srgbClr val="002060"/>
                </a:solidFill>
              </a:rPr>
              <a:t>Formation Resistivity Factor &amp; Resistivity Index:</a:t>
            </a:r>
          </a:p>
          <a:p>
            <a:pPr algn="l" marL="457200" indent="-457200">
              <a:buChar char="•"/>
            </a:pPr>
            <a:r>
              <a:rPr lang="en-US" sz="1200" dirty="0">
                <a:solidFill>
                  <a:srgbClr val="000000"/>
                </a:solidFill>
              </a:rPr>
              <a:t>Average cementation exponent m = 1.84  (range: 1.83–1.85)</a:t>
            </a:r>
          </a:p>
          <a:p>
            <a:pPr algn="l" marL="457200" indent="-457200">
              <a:buChar char="•"/>
            </a:pPr>
            <a:r>
              <a:rPr lang="en-US" sz="1200" dirty="0">
                <a:solidFill>
                  <a:srgbClr val="000000"/>
                </a:solidFill>
              </a:rPr>
              <a:t>Average saturation exponent n = 1.88  (range: 1.87–1.90)</a:t>
            </a:r>
          </a:p>
          <a:p>
            <a:endParaRPr lang="en-US" sz="1100" dirty="0"/>
          </a:p>
          <a:p>
            <a:pPr algn="l">
              <a:buNone/>
            </a:pPr>
            <a:r>
              <a:rPr lang="en-US" sz="1200" b="1" dirty="0">
                <a:solidFill>
                  <a:srgbClr val="002060"/>
                </a:solidFill>
              </a:rPr>
              <a:t>Cation Exchange Capacity (CEC):</a:t>
            </a:r>
          </a:p>
          <a:p>
            <a:pPr algn="l" marL="457200" indent="-457200">
              <a:buChar char="•"/>
            </a:pPr>
            <a:r>
              <a:rPr lang="en-US" sz="1200" dirty="0">
                <a:solidFill>
                  <a:srgbClr val="000000"/>
                </a:solidFill>
              </a:rPr>
              <a:t>Range: 1.0800–1.1600 meq/100g  |  Average: 1.1150 meq/100g</a:t>
            </a:r>
          </a:p>
          <a:p>
            <a:endParaRPr lang="en-US" sz="1100" dirty="0"/>
          </a:p>
          <a:p>
            <a:pPr algn="l">
              <a:buNone/>
            </a:pPr>
            <a:r>
              <a:rPr lang="en-US" sz="1200" b="1" dirty="0">
                <a:solidFill>
                  <a:srgbClr val="002060"/>
                </a:solidFill>
              </a:rPr>
              <a:t>Air-Brine Capillary Pressure (Centrifuge):</a:t>
            </a:r>
          </a:p>
          <a:p>
            <a:pPr algn="l" marL="457200" indent="-457200">
              <a:buChar char="•"/>
            </a:pPr>
            <a:r>
              <a:rPr lang="en-US" sz="1200" dirty="0">
                <a:solidFill>
                  <a:srgbClr val="000000"/>
                </a:solidFill>
              </a:rPr>
              <a:t>Sample at 3184 m: Swi = 83.7% PV at max drainage speed</a:t>
            </a:r>
          </a:p>
          <a:p>
            <a:pPr algn="l" marL="457200" indent="-457200">
              <a:buChar char="✗"/>
            </a:pPr>
            <a:r>
              <a:rPr lang="en-US" sz="1200" dirty="0">
                <a:solidFill>
                  <a:srgbClr val="000000"/>
                </a:solidFill>
              </a:rPr>
              <a:t>Samples 3528, 3576, 3598.5 m: very tight — Swi measurements not obtainable</a:t>
            </a:r>
          </a:p>
          <a:p>
            <a:endParaRPr lang="en-US" sz="1100" dirty="0"/>
          </a:p>
          <a:p>
            <a:pPr algn="l">
              <a:buNone/>
            </a:pPr>
            <a:r>
              <a:rPr lang="en-US" sz="1200" b="1" dirty="0">
                <a:solidFill>
                  <a:srgbClr val="002060"/>
                </a:solidFill>
              </a:rPr>
              <a:t>Mercury Injection Capillary Pressure (MICP):</a:t>
            </a:r>
          </a:p>
          <a:p>
            <a:pPr algn="l" marL="457200" indent="-457200">
              <a:buChar char="•"/>
            </a:pPr>
            <a:r>
              <a:rPr lang="en-US" sz="1200" dirty="0">
                <a:solidFill>
                  <a:srgbClr val="000000"/>
                </a:solidFill>
              </a:rPr>
              <a:t>Pore size distribution: macro 15.8%  |  meso 1.0%  |  micro 83.2%</a:t>
            </a:r>
          </a:p>
          <a:p>
            <a:pPr algn="l" marL="457200" indent="-457200">
              <a:buChar char="•"/>
            </a:pPr>
            <a:r>
              <a:rPr lang="en-US" sz="1200" dirty="0">
                <a:solidFill>
                  <a:srgbClr val="000000"/>
                </a:solidFill>
              </a:rPr>
              <a:t>All 4 samples covered to max 2,000 psi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50000" y="80000"/>
            <a:ext cx="99934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buNone/>
            </a:pPr>
            <a:r>
              <a:rPr lang="en-US" sz="2200" b="1" dirty="0">
                <a:solidFill>
                  <a:srgbClr val="002060"/>
                </a:solidFill>
              </a:rPr>
              <a:t>Extraction Results — Pegaga-2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0000" y="590000"/>
            <a:ext cx="99934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buNone/>
            </a:pPr>
            <a:r>
              <a:rPr lang="en-US" sz="1200" dirty="0">
                <a:solidFill>
                  <a:srgbClr val="595959"/>
                </a:solidFill>
              </a:rPr>
              <a:t>Document: RELATIVE PERMEABILITY NUMERICAL INTERPRETATION (MDC Oil &amp; Gas SK320 / Senergy International, Nov 2015)  |  49 pages extracted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50000" y="920000"/>
          <a:ext cx="9993400" cy="641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9340"/>
                <a:gridCol w="1598944"/>
                <a:gridCol w="1199208"/>
                <a:gridCol w="6195908"/>
              </a:tblGrid>
              <a:tr h="194439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Page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Duration (s)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Tokens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500.2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1,732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Title page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346.1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1,732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Cover page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531.1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1,817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Executive Summary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757.7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1,931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SCAL Flow Chart (Fig. 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1,398.2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1,932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Contents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1,616.7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2,214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Introduction – test principles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2,721.4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2,664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Rel. Perm. Test Procedure + Sample table  ★ Complex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547.0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1,847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Test procedure (continued)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2,812.0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2,586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Coreflood simulation intro  ★ Complex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1,514.9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2,102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Sample 2-015 test setup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527.0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1,796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History matching intro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888.1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1,958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Sample 2-015 fit results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1,567.7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1,901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kr curves – Sample 2-015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3,781.8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2,865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History matching tables  ★ Complex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37,705.4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3,819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Sample 2-019 large data table  ★★★ Extreme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9,000.6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4,255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Sample 2-019 (continued)  ★★ Very complex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1,473.6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2,102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Sample 2-019 results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941.2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1,866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Sample 2-023 setup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1,103.5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1,927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Sample 2-023 history matching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419.6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1,903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Sample 2-023 results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4,557.5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2,863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Sample 2-029 tables  ★ Complex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8,342.0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3,960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Sample 2-029 (continued)  ★★ Very complex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9,978.8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4,172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Sample 2-029 results  ★★ Very complex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1,507.1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2,067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Sample 2-029 kr curves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25-34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~7,386.2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~19,826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Samples 2-033 (pp.25-34)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8,521.5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3,965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Data averaging – normalization  ★★ Very complex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9,760.7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4,230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Normalized kr curves  ★★ Very complex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6,897.0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3,533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References / discussion  ★ Complex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38-42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~3,317.0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~9,250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Appendix pages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9,061.9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4,048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Appendix – large table  ★★ Very complex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4439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9,157.9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4,063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Appendix (continued)  ★★ Very complex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9445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45-49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~5,084.5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~9,687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Appendix pages 45–49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50000" y="7346500"/>
            <a:ext cx="9993400" cy="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buNone/>
            </a:pPr>
            <a:r>
              <a:rPr lang="en-US" sz="1100" dirty="0">
                <a:solidFill>
                  <a:srgbClr val="595959"/>
                </a:solidFill>
              </a:rPr>
              <a:t>TOTAL:  49 pages  |  176,782.4 s (~49.1 hrs)  |  122,934 tokens  |  5 samples (depths 2511–2516 m)  |  Page 15 alone: 37,705 s (10.5 hrs!) — largest single-page extraction in this benchmark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50000" y="80000"/>
            <a:ext cx="99934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buNone/>
            </a:pPr>
            <a:r>
              <a:rPr lang="en-US" sz="2200" b="1" dirty="0">
                <a:solidFill>
                  <a:srgbClr val="002060"/>
                </a:solidFill>
              </a:rPr>
              <a:t>Pegaga-2 — Sample Properties &amp; Relative Permeability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0000" y="590000"/>
            <a:ext cx="99934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buNone/>
            </a:pPr>
            <a:r>
              <a:rPr lang="en-US" sz="1200" dirty="0">
                <a:solidFill>
                  <a:srgbClr val="595959"/>
                </a:solidFill>
              </a:rPr>
              <a:t>5 samples tested using hybrid USS Kr gas-water drainage + imbibition centrifuge  |  Interpreted using Sendra™ coreflood simulator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50000" y="920000"/>
          <a:ext cx="9993400" cy="17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9076"/>
                <a:gridCol w="1399076"/>
                <a:gridCol w="1399076"/>
                <a:gridCol w="1399076"/>
                <a:gridCol w="2198548"/>
                <a:gridCol w="2198548"/>
              </a:tblGrid>
              <a:tr h="283333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Sample ID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Depth (m)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Ka (mD) NCS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Porosity (%)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Target Swi (%)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Achieved Swi (%)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283333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2-015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2511.1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2.46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18.6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20.5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83333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2-019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2512.2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37.0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24.5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7.5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9.2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3333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2-023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2513.4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9.93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22.87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16.4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83333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2-029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2515.1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13.8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18.1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10.5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3335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2-033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2516.16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21.6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25.0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7.4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50000" y="2670000"/>
            <a:ext cx="9993400" cy="3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buNone/>
            </a:pPr>
            <a:r>
              <a:rPr lang="en-US" sz="1400" b="1" dirty="0">
                <a:solidFill>
                  <a:srgbClr val="002060"/>
                </a:solidFill>
              </a:rPr>
              <a:t>Interpretation Methodology &amp; Key Findings</a:t>
            </a:r>
          </a:p>
          <a:p>
            <a:endParaRPr lang="en-US" sz="1100" dirty="0"/>
          </a:p>
          <a:p>
            <a:pPr algn="l">
              <a:buNone/>
            </a:pPr>
            <a:r>
              <a:rPr lang="en-US" sz="1200" b="1" dirty="0">
                <a:solidFill>
                  <a:srgbClr val="002060"/>
                </a:solidFill>
              </a:rPr>
              <a:t>Test Approach:</a:t>
            </a:r>
          </a:p>
          <a:p>
            <a:pPr algn="l" marL="457200" indent="-457200">
              <a:buChar char="•"/>
            </a:pPr>
            <a:r>
              <a:rPr lang="en-US" sz="1200" dirty="0">
                <a:solidFill>
                  <a:srgbClr val="000000"/>
                </a:solidFill>
              </a:rPr>
              <a:t>Hybrid USS Kr gas-water drainage + single-speed imbibition centrifuge (water-decane)</a:t>
            </a:r>
          </a:p>
          <a:p>
            <a:pPr algn="l" marL="457200" indent="-457200">
              <a:buChar char="•"/>
            </a:pPr>
            <a:r>
              <a:rPr lang="en-US" sz="1200" dirty="0">
                <a:solidFill>
                  <a:srgbClr val="000000"/>
                </a:solidFill>
              </a:rPr>
              <a:t>Drainage: yields krw curve (Swir to Sgr); Imbibition: yields krg curve</a:t>
            </a:r>
          </a:p>
          <a:p>
            <a:pPr algn="l" marL="457200" indent="-457200">
              <a:buChar char="•"/>
            </a:pPr>
            <a:r>
              <a:rPr lang="en-US" sz="1200" dirty="0">
                <a:solidFill>
                  <a:srgbClr val="000000"/>
                </a:solidFill>
              </a:rPr>
              <a:t>No hysteresis assumed for wetting phase (water) between drainage and imbibition</a:t>
            </a:r>
          </a:p>
          <a:p>
            <a:endParaRPr lang="en-US" sz="1100" dirty="0"/>
          </a:p>
          <a:p>
            <a:pPr algn="l">
              <a:buNone/>
            </a:pPr>
            <a:r>
              <a:rPr lang="en-US" sz="1200" b="1" dirty="0">
                <a:solidFill>
                  <a:srgbClr val="002060"/>
                </a:solidFill>
              </a:rPr>
              <a:t>Numerical Interpretation:</a:t>
            </a:r>
          </a:p>
          <a:p>
            <a:pPr algn="l" marL="457200" indent="-457200">
              <a:buChar char="•"/>
            </a:pPr>
            <a:r>
              <a:rPr lang="en-US" sz="1200" dirty="0">
                <a:solidFill>
                  <a:srgbClr val="000000"/>
                </a:solidFill>
              </a:rPr>
              <a:t>Sendra™ proprietary coreflood simulator (two-phase 1-D black oil model)</a:t>
            </a:r>
          </a:p>
          <a:p>
            <a:pPr algn="l" marL="457200" indent="-457200">
              <a:buChar char="•"/>
            </a:pPr>
            <a:r>
              <a:rPr lang="en-US" sz="1200" dirty="0">
                <a:solidFill>
                  <a:srgbClr val="000000"/>
                </a:solidFill>
              </a:rPr>
              <a:t>Automated history matching routine applied to all 5 samples</a:t>
            </a:r>
          </a:p>
          <a:p>
            <a:pPr algn="l" marL="457200" indent="-457200">
              <a:buChar char="•"/>
            </a:pPr>
            <a:r>
              <a:rPr lang="en-US" sz="1200" dirty="0">
                <a:solidFill>
                  <a:srgbClr val="000000"/>
                </a:solidFill>
              </a:rPr>
              <a:t>Prepared by Senergy International Sdn Bhd for MDC Oil &amp; Gas (SK320) Ltd, November 2015</a:t>
            </a:r>
          </a:p>
          <a:p>
            <a:endParaRPr lang="en-US" sz="1100" dirty="0"/>
          </a:p>
          <a:p>
            <a:pPr algn="l">
              <a:buNone/>
            </a:pPr>
            <a:r>
              <a:rPr lang="en-US" sz="1200" b="1" dirty="0">
                <a:solidFill>
                  <a:srgbClr val="002060"/>
                </a:solidFill>
              </a:rPr>
              <a:t>Extraction Performance:</a:t>
            </a:r>
          </a:p>
          <a:p>
            <a:pPr algn="l" marL="457200" indent="-457200">
              <a:buChar char="–"/>
            </a:pPr>
            <a:r>
              <a:rPr lang="en-US" sz="1200" dirty="0">
                <a:solidFill>
                  <a:srgbClr val="000000"/>
                </a:solidFill>
              </a:rPr>
              <a:t>Most complex page: Page 15 — 37,705 s (10.5 hours for one page)</a:t>
            </a:r>
          </a:p>
          <a:p>
            <a:pPr algn="l" marL="457200" indent="-457200">
              <a:buChar char="–"/>
            </a:pPr>
            <a:r>
              <a:rPr lang="en-US" sz="1200" dirty="0">
                <a:solidFill>
                  <a:srgbClr val="000000"/>
                </a:solidFill>
              </a:rPr>
              <a:t>Pages 22, 23, 35, 36, 43, 44 each exceeded 8,000 s — all contain dense tabular data</a:t>
            </a:r>
          </a:p>
          <a:p>
            <a:pPr algn="l" marL="457200" indent="-457200">
              <a:buChar char="✓"/>
            </a:pPr>
            <a:r>
              <a:rPr lang="en-US" sz="1200" dirty="0">
                <a:solidFill>
                  <a:srgbClr val="000000"/>
                </a:solidFill>
              </a:rPr>
              <a:t>olmOCR ADE pipeline successfully extracted kr curves and history-matching tables from all 49 pages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50000" y="80000"/>
            <a:ext cx="99934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buNone/>
            </a:pPr>
            <a:r>
              <a:rPr lang="en-US" sz="2200" b="1" dirty="0">
                <a:solidFill>
                  <a:srgbClr val="002060"/>
                </a:solidFill>
              </a:rPr>
              <a:t>Extraction Benchmark — Three SCAL Documents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0000" y="590000"/>
            <a:ext cx="99934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buNone/>
            </a:pPr>
            <a:r>
              <a:rPr lang="en-US" sz="1200" dirty="0">
                <a:solidFill>
                  <a:srgbClr val="595959"/>
                </a:solidFill>
              </a:rPr>
              <a:t>olmOCR ADE pipeline performance across document types, complexity, and size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50000" y="920000"/>
          <a:ext cx="9993400" cy="643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8548"/>
                <a:gridCol w="2598284"/>
                <a:gridCol w="2598284"/>
                <a:gridCol w="2598284"/>
              </a:tblGrid>
              <a:tr h="495115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Angsi-1 Core
(ESSO, 1974)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Duyong Deep-1
(PETRONAS, ~2014)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Pegaga-2
(MDC/Senergy, 2015)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49511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Document type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Core Analysis Report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Special Core Analysis (SCAL)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Rel. Perm. Numerical Interp.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511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Total pages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11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Total duration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4,087 s  (~68 min)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91,809 s  (~25.5 hrs)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176,782 s  (~49.1 hrs)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511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Total tokens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33,380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95,039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122,934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11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Avg tokens / page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1,964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2,501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2,509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511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Avg duration / page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240 s  (4.0 min)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2,416 s  (40 min)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3,608 s  (60 min)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11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Fastest page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Page 1: 56.3 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Page 10: 98.0 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Page 2: 346.1 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511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Slowest page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Page 8: 953 s (15.9 min)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Page 21: 12,061 s (3.3 hrs)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Page 15: 37,705 s (10.5 hrs!)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11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Complex pages (&gt;5000s)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Pages 15, 17, 19, 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Pages 15, 22, 23, 29, 30, 35, 36, 43, 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511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Tables extracted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 (HTML format)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5+ data tables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 sample tables + kr curves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11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Figures labeled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 figures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18+ graphs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40+ kr curve plots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51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Extraction quality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✓  All tables correct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✓  All tables extracted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✓  All pages extracted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50000" y="7356500"/>
            <a:ext cx="9993400" cy="1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buNone/>
            </a:pPr>
            <a:r>
              <a:rPr lang="en-US" sz="1100" dirty="0">
                <a:solidFill>
                  <a:srgbClr val="595959"/>
                </a:solidFill>
              </a:rPr>
              <a:t>Observation: Extraction time scales non-linearly with document complexity (dense tables, multi-panel graphs). Simple text pages: ~300–600 s. Dense SCAL data tables: 1,000–12,000 s. Complex kr plot pages: up to 37,705 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11950</TotalTime>
  <Words>3173</Words>
  <Application>Microsoft Office PowerPoint</Application>
  <PresentationFormat>Custom</PresentationFormat>
  <Paragraphs>581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Calibri</vt:lpstr>
      <vt:lpstr>Segoe UI</vt:lpstr>
      <vt:lpstr>Segoe UI Light</vt:lpstr>
      <vt:lpstr>Office Theme</vt:lpstr>
      <vt:lpstr>PETRONAS Advanced Analytics Framework for Resource Optimization (PETRO-AFRO)</vt:lpstr>
      <vt:lpstr>Last Meeting Recap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PETRONAS Advanced Analytics Framework for Resource Optimization (PETRO-AFRO)</dc:title>
  <dc:creator>Mining</dc:creator>
  <cp:lastModifiedBy>office</cp:lastModifiedBy>
  <cp:revision>487</cp:revision>
  <dcterms:created xsi:type="dcterms:W3CDTF">2025-06-26T05:29:53Z</dcterms:created>
  <dcterms:modified xsi:type="dcterms:W3CDTF">2026-03-04T00:10:31Z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2025-06-26T00:00:00Z</vt:filetime>
  </property>
  <property fmtid="{D5CDD505-2E9C-101B-9397-08002B2CF9AE}" pid="3" name="Creator">
    <vt:lpwstr>Mozilla/5.0 (Windows NT 10.0; Win64; x64) AppleWebKit/537.36 (KHTML, like Gecko) Chrome/137.0.0.0 Safari/537.36</vt:lpwstr>
  </property>
  <property fmtid="{D5CDD505-2E9C-101B-9397-08002B2CF9AE}" pid="4" name="LastSaved">
    <vt:filetime>2025-06-26T00:00:00Z</vt:filetime>
  </property>
  <property fmtid="{D5CDD505-2E9C-101B-9397-08002B2CF9AE}" pid="5" name="Producer">
    <vt:lpwstr>Skia/PDF m137</vt:lpwstr>
  </property>
  <property fmtid="{D5CDD505-2E9C-101B-9397-08002B2CF9AE}" pid="6" name="MSIP_Label_defa4170-0d19-0005-0004-bc88714345d2_Enabled">
    <vt:lpwstr>true</vt:lpwstr>
  </property>
  <property fmtid="{D5CDD505-2E9C-101B-9397-08002B2CF9AE}" pid="7" name="MSIP_Label_defa4170-0d19-0005-0004-bc88714345d2_SetDate">
    <vt:lpwstr>2025-06-26T05:34:01Z</vt:lpwstr>
  </property>
  <property fmtid="{D5CDD505-2E9C-101B-9397-08002B2CF9AE}" pid="8" name="MSIP_Label_defa4170-0d19-0005-0004-bc88714345d2_Method">
    <vt:lpwstr>Standard</vt:lpwstr>
  </property>
  <property fmtid="{D5CDD505-2E9C-101B-9397-08002B2CF9AE}" pid="9" name="MSIP_Label_defa4170-0d19-0005-0004-bc88714345d2_Name">
    <vt:lpwstr>defa4170-0d19-0005-0004-bc88714345d2</vt:lpwstr>
  </property>
  <property fmtid="{D5CDD505-2E9C-101B-9397-08002B2CF9AE}" pid="10" name="MSIP_Label_defa4170-0d19-0005-0004-bc88714345d2_SiteId">
    <vt:lpwstr>f11b2fb6-1395-467d-a26e-965a8d1af5a6</vt:lpwstr>
  </property>
  <property fmtid="{D5CDD505-2E9C-101B-9397-08002B2CF9AE}" pid="11" name="MSIP_Label_defa4170-0d19-0005-0004-bc88714345d2_ActionId">
    <vt:lpwstr>0b16ed8e-8a2e-4b66-8f5a-6ded919ca11a</vt:lpwstr>
  </property>
  <property fmtid="{D5CDD505-2E9C-101B-9397-08002B2CF9AE}" pid="12" name="MSIP_Label_defa4170-0d19-0005-0004-bc88714345d2_ContentBits">
    <vt:lpwstr>0</vt:lpwstr>
  </property>
  <property fmtid="{D5CDD505-2E9C-101B-9397-08002B2CF9AE}" pid="13" name="MSIP_Label_defa4170-0d19-0005-0004-bc88714345d2_Tag">
    <vt:lpwstr>10, 3, 0, 1</vt:lpwstr>
  </property>
</Properties>
</file>